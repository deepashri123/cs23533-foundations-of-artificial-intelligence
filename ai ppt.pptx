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67" r:id="rId2"/>
    <p:sldId id="268" r:id="rId3"/>
    <p:sldId id="269" r:id="rId4"/>
    <p:sldId id="278" r:id="rId5"/>
    <p:sldId id="284" r:id="rId6"/>
    <p:sldId id="281" r:id="rId7"/>
    <p:sldId id="279" r:id="rId8"/>
    <p:sldId id="270" r:id="rId9"/>
    <p:sldId id="285" r:id="rId10"/>
    <p:sldId id="272" r:id="rId11"/>
    <p:sldId id="286" r:id="rId12"/>
    <p:sldId id="287" r:id="rId13"/>
    <p:sldId id="283" r:id="rId14"/>
    <p:sldId id="273" r:id="rId15"/>
    <p:sldId id="276" r:id="rId16"/>
    <p:sldId id="27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73A558-D065-4A6B-874E-6BCD45641713}">
          <p14:sldIdLst>
            <p14:sldId id="267"/>
            <p14:sldId id="268"/>
          </p14:sldIdLst>
        </p14:section>
        <p14:section name="Untitled Section" id="{F5708F95-5A93-416F-AE3F-E8E9EC3C1E94}">
          <p14:sldIdLst>
            <p14:sldId id="269"/>
            <p14:sldId id="278"/>
            <p14:sldId id="284"/>
            <p14:sldId id="281"/>
            <p14:sldId id="279"/>
            <p14:sldId id="270"/>
            <p14:sldId id="285"/>
            <p14:sldId id="272"/>
            <p14:sldId id="286"/>
            <p14:sldId id="287"/>
            <p14:sldId id="283"/>
            <p14:sldId id="273"/>
            <p14:sldId id="276"/>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86833-9570-4B44-9DB4-03022E8ECA6D}" v="63" dt="2026-10-18T11:17:55.6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5033" autoAdjust="0"/>
  </p:normalViewPr>
  <p:slideViewPr>
    <p:cSldViewPr snapToGrid="0">
      <p:cViewPr varScale="1">
        <p:scale>
          <a:sx n="82" d="100"/>
          <a:sy n="82" d="100"/>
        </p:scale>
        <p:origin x="55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 shri" userId="929dce67b4142856" providerId="LiveId" clId="{D54657DA-C8A4-48EE-B7B0-D40533BA3A6F}"/>
    <pc:docChg chg="addSld delSld modSld">
      <pc:chgData name="deepa shri" userId="929dce67b4142856" providerId="LiveId" clId="{D54657DA-C8A4-48EE-B7B0-D40533BA3A6F}" dt="2026-10-18T11:17:55.699" v="62"/>
      <pc:docMkLst>
        <pc:docMk/>
      </pc:docMkLst>
      <pc:sldChg chg="modSp">
        <pc:chgData name="deepa shri" userId="929dce67b4142856" providerId="LiveId" clId="{D54657DA-C8A4-48EE-B7B0-D40533BA3A6F}" dt="2026-10-18T10:57:28.872" v="51"/>
        <pc:sldMkLst>
          <pc:docMk/>
          <pc:sldMk cId="1454358736" sldId="270"/>
        </pc:sldMkLst>
        <pc:spChg chg="mod">
          <ac:chgData name="deepa shri" userId="929dce67b4142856" providerId="LiveId" clId="{D54657DA-C8A4-48EE-B7B0-D40533BA3A6F}" dt="2026-10-18T10:57:28.872" v="51"/>
          <ac:spMkLst>
            <pc:docMk/>
            <pc:sldMk cId="1454358736" sldId="270"/>
            <ac:spMk id="3" creationId="{E522F891-2607-7FE5-FCDF-83A605C4B491}"/>
          </ac:spMkLst>
        </pc:spChg>
      </pc:sldChg>
      <pc:sldChg chg="modSp">
        <pc:chgData name="deepa shri" userId="929dce67b4142856" providerId="LiveId" clId="{D54657DA-C8A4-48EE-B7B0-D40533BA3A6F}" dt="2026-10-18T11:07:08.157" v="56"/>
        <pc:sldMkLst>
          <pc:docMk/>
          <pc:sldMk cId="1473955229" sldId="272"/>
        </pc:sldMkLst>
        <pc:spChg chg="mod">
          <ac:chgData name="deepa shri" userId="929dce67b4142856" providerId="LiveId" clId="{D54657DA-C8A4-48EE-B7B0-D40533BA3A6F}" dt="2026-10-18T11:07:08.157" v="56"/>
          <ac:spMkLst>
            <pc:docMk/>
            <pc:sldMk cId="1473955229" sldId="272"/>
            <ac:spMk id="3" creationId="{142D7223-E6EF-8DC0-0428-D7321F91DDA0}"/>
          </ac:spMkLst>
        </pc:spChg>
      </pc:sldChg>
      <pc:sldChg chg="modSp">
        <pc:chgData name="deepa shri" userId="929dce67b4142856" providerId="LiveId" clId="{D54657DA-C8A4-48EE-B7B0-D40533BA3A6F}" dt="2026-10-18T11:10:41.514" v="60" actId="14100"/>
        <pc:sldMkLst>
          <pc:docMk/>
          <pc:sldMk cId="1090529346" sldId="273"/>
        </pc:sldMkLst>
        <pc:spChg chg="mod">
          <ac:chgData name="deepa shri" userId="929dce67b4142856" providerId="LiveId" clId="{D54657DA-C8A4-48EE-B7B0-D40533BA3A6F}" dt="2026-10-18T11:10:41.514" v="60" actId="14100"/>
          <ac:spMkLst>
            <pc:docMk/>
            <pc:sldMk cId="1090529346" sldId="273"/>
            <ac:spMk id="8" creationId="{24BF2F95-928C-A664-75AE-99A236FE4B35}"/>
          </ac:spMkLst>
        </pc:spChg>
      </pc:sldChg>
      <pc:sldChg chg="add del">
        <pc:chgData name="deepa shri" userId="929dce67b4142856" providerId="LiveId" clId="{D54657DA-C8A4-48EE-B7B0-D40533BA3A6F}" dt="2026-10-18T10:41:00.615" v="46"/>
        <pc:sldMkLst>
          <pc:docMk/>
          <pc:sldMk cId="2088638212" sldId="275"/>
        </pc:sldMkLst>
      </pc:sldChg>
      <pc:sldChg chg="add">
        <pc:chgData name="deepa shri" userId="929dce67b4142856" providerId="LiveId" clId="{D54657DA-C8A4-48EE-B7B0-D40533BA3A6F}" dt="2026-10-18T10:40:34.423" v="44"/>
        <pc:sldMkLst>
          <pc:docMk/>
          <pc:sldMk cId="3187902134" sldId="275"/>
        </pc:sldMkLst>
      </pc:sldChg>
      <pc:sldChg chg="modSp">
        <pc:chgData name="deepa shri" userId="929dce67b4142856" providerId="LiveId" clId="{D54657DA-C8A4-48EE-B7B0-D40533BA3A6F}" dt="2026-10-18T11:17:55.699" v="62"/>
        <pc:sldMkLst>
          <pc:docMk/>
          <pc:sldMk cId="753698835" sldId="276"/>
        </pc:sldMkLst>
        <pc:spChg chg="mod">
          <ac:chgData name="deepa shri" userId="929dce67b4142856" providerId="LiveId" clId="{D54657DA-C8A4-48EE-B7B0-D40533BA3A6F}" dt="2026-10-18T11:17:55.699" v="62"/>
          <ac:spMkLst>
            <pc:docMk/>
            <pc:sldMk cId="753698835" sldId="276"/>
            <ac:spMk id="3" creationId="{1B70E225-5105-0071-4E07-A101387F5607}"/>
          </ac:spMkLst>
        </pc:spChg>
      </pc:sldChg>
      <pc:sldChg chg="addSp delSp modSp">
        <pc:chgData name="deepa shri" userId="929dce67b4142856" providerId="LiveId" clId="{D54657DA-C8A4-48EE-B7B0-D40533BA3A6F}" dt="2026-10-18T10:23:15.492" v="20"/>
        <pc:sldMkLst>
          <pc:docMk/>
          <pc:sldMk cId="2138724139" sldId="278"/>
        </pc:sldMkLst>
        <pc:spChg chg="add del mod">
          <ac:chgData name="deepa shri" userId="929dce67b4142856" providerId="LiveId" clId="{D54657DA-C8A4-48EE-B7B0-D40533BA3A6F}" dt="2026-10-18T10:23:15.492" v="20"/>
          <ac:spMkLst>
            <pc:docMk/>
            <pc:sldMk cId="2138724139" sldId="278"/>
            <ac:spMk id="9" creationId="{C8418030-A4C9-4134-17FF-8B584A18D6AE}"/>
          </ac:spMkLst>
        </pc:spChg>
        <pc:graphicFrameChg chg="mod">
          <ac:chgData name="deepa shri" userId="929dce67b4142856" providerId="LiveId" clId="{D54657DA-C8A4-48EE-B7B0-D40533BA3A6F}" dt="2026-10-18T10:23:12.493" v="19"/>
          <ac:graphicFrameMkLst>
            <pc:docMk/>
            <pc:sldMk cId="2138724139" sldId="278"/>
            <ac:graphicFrameMk id="7" creationId="{28570AD5-59F4-C36A-06EE-1893ABDA3C2D}"/>
          </ac:graphicFrameMkLst>
        </pc:graphicFrameChg>
      </pc:sldChg>
      <pc:sldChg chg="modSp">
        <pc:chgData name="deepa shri" userId="929dce67b4142856" providerId="LiveId" clId="{D54657DA-C8A4-48EE-B7B0-D40533BA3A6F}" dt="2026-10-18T10:47:07.576" v="47"/>
        <pc:sldMkLst>
          <pc:docMk/>
          <pc:sldMk cId="2092783983" sldId="279"/>
        </pc:sldMkLst>
        <pc:spChg chg="mod">
          <ac:chgData name="deepa shri" userId="929dce67b4142856" providerId="LiveId" clId="{D54657DA-C8A4-48EE-B7B0-D40533BA3A6F}" dt="2026-10-18T10:47:07.576" v="47"/>
          <ac:spMkLst>
            <pc:docMk/>
            <pc:sldMk cId="2092783983" sldId="279"/>
            <ac:spMk id="3" creationId="{7E425F34-672D-E2C4-2569-ED42694BBE37}"/>
          </ac:spMkLst>
        </pc:spChg>
      </pc:sldChg>
      <pc:sldChg chg="modSp">
        <pc:chgData name="deepa shri" userId="929dce67b4142856" providerId="LiveId" clId="{D54657DA-C8A4-48EE-B7B0-D40533BA3A6F}" dt="2026-10-18T10:36:08.040" v="43"/>
        <pc:sldMkLst>
          <pc:docMk/>
          <pc:sldMk cId="912672116" sldId="284"/>
        </pc:sldMkLst>
        <pc:spChg chg="mod">
          <ac:chgData name="deepa shri" userId="929dce67b4142856" providerId="LiveId" clId="{D54657DA-C8A4-48EE-B7B0-D40533BA3A6F}" dt="2026-10-18T10:26:55.649" v="22"/>
          <ac:spMkLst>
            <pc:docMk/>
            <pc:sldMk cId="912672116" sldId="284"/>
            <ac:spMk id="2" creationId="{9B83E8D1-C981-DDC2-EFAB-03CCFA0A6BC5}"/>
          </ac:spMkLst>
        </pc:spChg>
        <pc:spChg chg="mod">
          <ac:chgData name="deepa shri" userId="929dce67b4142856" providerId="LiveId" clId="{D54657DA-C8A4-48EE-B7B0-D40533BA3A6F}" dt="2026-10-18T10:26:43.031" v="21"/>
          <ac:spMkLst>
            <pc:docMk/>
            <pc:sldMk cId="912672116" sldId="284"/>
            <ac:spMk id="3" creationId="{D27F6853-6FFF-9B54-BA25-2117A2FFD63C}"/>
          </ac:spMkLst>
        </pc:spChg>
        <pc:graphicFrameChg chg="mod">
          <ac:chgData name="deepa shri" userId="929dce67b4142856" providerId="LiveId" clId="{D54657DA-C8A4-48EE-B7B0-D40533BA3A6F}" dt="2026-10-18T10:36:08.040" v="43"/>
          <ac:graphicFrameMkLst>
            <pc:docMk/>
            <pc:sldMk cId="912672116" sldId="284"/>
            <ac:graphicFrameMk id="4" creationId="{B68E76B5-9923-B41D-0D2D-DD4028893F87}"/>
          </ac:graphicFrameMkLst>
        </pc:graphicFrameChg>
      </pc:sldChg>
      <pc:sldChg chg="modSp">
        <pc:chgData name="deepa shri" userId="929dce67b4142856" providerId="LiveId" clId="{D54657DA-C8A4-48EE-B7B0-D40533BA3A6F}" dt="2026-10-18T11:03:04.215" v="54"/>
        <pc:sldMkLst>
          <pc:docMk/>
          <pc:sldMk cId="579458240" sldId="285"/>
        </pc:sldMkLst>
        <pc:spChg chg="mod">
          <ac:chgData name="deepa shri" userId="929dce67b4142856" providerId="LiveId" clId="{D54657DA-C8A4-48EE-B7B0-D40533BA3A6F}" dt="2026-10-18T11:01:04.638" v="53"/>
          <ac:spMkLst>
            <pc:docMk/>
            <pc:sldMk cId="579458240" sldId="285"/>
            <ac:spMk id="2" creationId="{F876D54E-246F-40A7-A946-C3E53D2FD495}"/>
          </ac:spMkLst>
        </pc:spChg>
        <pc:spChg chg="mod">
          <ac:chgData name="deepa shri" userId="929dce67b4142856" providerId="LiveId" clId="{D54657DA-C8A4-48EE-B7B0-D40533BA3A6F}" dt="2026-10-18T11:03:04.215" v="54"/>
          <ac:spMkLst>
            <pc:docMk/>
            <pc:sldMk cId="579458240" sldId="285"/>
            <ac:spMk id="3" creationId="{88891AB4-E954-9421-0FD7-6ACE410BB56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686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804008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8339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15914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10/19/2026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8077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10/19/2026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39113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smtClean="0"/>
              <a:t>10/19/2026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5034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smtClean="0"/>
              <a:t>10/19/2026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5273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4116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91495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10552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smtClean="0"/>
              <a:t>10/19/2026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85850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www.sqlite.org/docs.html?utm_source=chatgpt.com" TargetMode="External"/><Relationship Id="rId3" Type="http://schemas.openxmlformats.org/officeDocument/2006/relationships/hyperlink" Target="https://doi.org/10.1016/j.tcs.2017.05.024" TargetMode="External"/><Relationship Id="rId7" Type="http://schemas.openxmlformats.org/officeDocument/2006/relationships/hyperlink" Target="https://docs.streamlit.io/?utm_source=chatgpt.com" TargetMode="External"/><Relationship Id="rId2" Type="http://schemas.openxmlformats.org/officeDocument/2006/relationships/hyperlink" Target="https://ieeexplore.ieee.org/document/7445184" TargetMode="External"/><Relationship Id="rId1" Type="http://schemas.openxmlformats.org/officeDocument/2006/relationships/slideLayout" Target="../slideLayouts/slideLayout2.xml"/><Relationship Id="rId6" Type="http://schemas.openxmlformats.org/officeDocument/2006/relationships/hyperlink" Target="https://docs.python.org/3/?utm_source=chatgpt.com" TargetMode="External"/><Relationship Id="rId5" Type="http://schemas.openxmlformats.org/officeDocument/2006/relationships/hyperlink" Target="https://doi.org/10.1371/journal.pone.0276061" TargetMode="External"/><Relationship Id="rId4" Type="http://schemas.openxmlformats.org/officeDocument/2006/relationships/hyperlink" Target="https://doi.org/10.1016/j.eswa.2021.114886"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7654" y="1695840"/>
            <a:ext cx="10373620" cy="864740"/>
          </a:xfrm>
        </p:spPr>
        <p:txBody>
          <a:bodyPr>
            <a:normAutofit fontScale="90000"/>
          </a:bodyPr>
          <a:lstStyle/>
          <a:p>
            <a:pPr algn="ctr"/>
            <a:br>
              <a:rPr lang="en-US" sz="6000" dirty="0">
                <a:solidFill>
                  <a:srgbClr val="AB620D"/>
                </a:solidFill>
                <a:latin typeface="Times New Roman"/>
                <a:cs typeface="Calibri Light"/>
              </a:rPr>
            </a:br>
            <a:r>
              <a:rPr lang="en-US" sz="6000" dirty="0">
                <a:solidFill>
                  <a:srgbClr val="AB620D"/>
                </a:solidFill>
                <a:latin typeface="Times New Roman"/>
                <a:cs typeface="Calibri Light"/>
              </a:rPr>
              <a:t>DEPARTMENT OF CSE</a:t>
            </a:r>
            <a:endParaRPr lang="en-US" sz="6000" dirty="0">
              <a:solidFill>
                <a:srgbClr val="AB620D"/>
              </a:solidFill>
              <a:latin typeface="Times New Roman"/>
              <a:cs typeface="Times New Roman"/>
            </a:endParaRPr>
          </a:p>
        </p:txBody>
      </p:sp>
      <p:pic>
        <p:nvPicPr>
          <p:cNvPr id="10" name="Picture 11" descr="Logo, company name&#10;&#10;Description automatically generated">
            <a:extLst>
              <a:ext uri="{FF2B5EF4-FFF2-40B4-BE49-F238E27FC236}">
                <a16:creationId xmlns:a16="http://schemas.microsoft.com/office/drawing/2014/main" id="{DF3E9E44-9CCA-6FCA-4FF3-75AF9B172748}"/>
              </a:ext>
            </a:extLst>
          </p:cNvPr>
          <p:cNvPicPr>
            <a:picLocks noChangeAspect="1"/>
          </p:cNvPicPr>
          <p:nvPr/>
        </p:nvPicPr>
        <p:blipFill>
          <a:blip r:embed="rId2"/>
          <a:stretch>
            <a:fillRect/>
          </a:stretch>
        </p:blipFill>
        <p:spPr>
          <a:xfrm>
            <a:off x="8259496" y="145417"/>
            <a:ext cx="2722635" cy="1161322"/>
          </a:xfrm>
          <a:prstGeom prst="rect">
            <a:avLst/>
          </a:prstGeom>
        </p:spPr>
      </p:pic>
      <p:sp>
        <p:nvSpPr>
          <p:cNvPr id="16" name="Title 1">
            <a:extLst>
              <a:ext uri="{FF2B5EF4-FFF2-40B4-BE49-F238E27FC236}">
                <a16:creationId xmlns:a16="http://schemas.microsoft.com/office/drawing/2014/main" id="{F081DDEC-6CFB-F8EB-2E41-375A2ACCD2A9}"/>
              </a:ext>
            </a:extLst>
          </p:cNvPr>
          <p:cNvSpPr txBox="1">
            <a:spLocks/>
          </p:cNvSpPr>
          <p:nvPr/>
        </p:nvSpPr>
        <p:spPr>
          <a:xfrm>
            <a:off x="913470" y="3602533"/>
            <a:ext cx="10365059" cy="70401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marL="91440" indent="-91440" algn="ctr">
              <a:buClr>
                <a:schemeClr val="accent1"/>
              </a:buClr>
              <a:buSzPct val="100000"/>
              <a:buFont typeface="Calibri" panose="020F0502020204030204" pitchFamily="34" charset="0"/>
              <a:buChar char=" "/>
            </a:pPr>
            <a:r>
              <a:rPr lang="en-IN" sz="4000" b="1" dirty="0">
                <a:latin typeface="Times New Roman" panose="02020603050405020304" pitchFamily="18" charset="0"/>
                <a:cs typeface="Times New Roman" panose="02020603050405020304" pitchFamily="18" charset="0"/>
              </a:rPr>
              <a:t>AI-Powered Team Formation Tool</a:t>
            </a:r>
            <a:endParaRPr lang="en-US" sz="4000" dirty="0">
              <a:latin typeface="Times New Roman"/>
              <a:cs typeface="Calibri Light"/>
            </a:endParaRPr>
          </a:p>
        </p:txBody>
      </p:sp>
      <p:sp>
        <p:nvSpPr>
          <p:cNvPr id="19" name="Title 1">
            <a:extLst>
              <a:ext uri="{FF2B5EF4-FFF2-40B4-BE49-F238E27FC236}">
                <a16:creationId xmlns:a16="http://schemas.microsoft.com/office/drawing/2014/main" id="{A638B8C4-160D-43D1-B52A-63C1F7B36217}"/>
              </a:ext>
            </a:extLst>
          </p:cNvPr>
          <p:cNvSpPr txBox="1">
            <a:spLocks/>
          </p:cNvSpPr>
          <p:nvPr/>
        </p:nvSpPr>
        <p:spPr>
          <a:xfrm>
            <a:off x="602165" y="3762299"/>
            <a:ext cx="10987668" cy="43756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r"/>
            <a:endParaRPr lang="en-US" sz="2500" dirty="0">
              <a:latin typeface="Times New Roman"/>
              <a:cs typeface="Calibri Light"/>
            </a:endParaRPr>
          </a:p>
        </p:txBody>
      </p:sp>
      <p:sp>
        <p:nvSpPr>
          <p:cNvPr id="3" name="TextBox 2">
            <a:extLst>
              <a:ext uri="{FF2B5EF4-FFF2-40B4-BE49-F238E27FC236}">
                <a16:creationId xmlns:a16="http://schemas.microsoft.com/office/drawing/2014/main" id="{8817EE35-8FF6-2509-9CA7-6D59893643D5}"/>
              </a:ext>
            </a:extLst>
          </p:cNvPr>
          <p:cNvSpPr txBox="1"/>
          <p:nvPr/>
        </p:nvSpPr>
        <p:spPr>
          <a:xfrm>
            <a:off x="351751" y="5156963"/>
            <a:ext cx="5237286" cy="1200329"/>
          </a:xfrm>
          <a:prstGeom prst="rect">
            <a:avLst/>
          </a:prstGeom>
          <a:noFill/>
        </p:spPr>
        <p:txBody>
          <a:bodyPr wrap="square" rtlCol="0">
            <a:spAutoFit/>
          </a:bodyPr>
          <a:lstStyle/>
          <a:p>
            <a:r>
              <a:rPr lang="en-US" sz="1800" dirty="0">
                <a:latin typeface="Times New Roman"/>
                <a:cs typeface="Calibri Light"/>
              </a:rPr>
              <a:t>Team Member 1 :DEEPASHRI MURALI(240701100)</a:t>
            </a:r>
            <a:endParaRPr lang="en-US" dirty="0">
              <a:latin typeface="Times New Roman"/>
              <a:cs typeface="Calibri Light"/>
            </a:endParaRPr>
          </a:p>
          <a:p>
            <a:r>
              <a:rPr lang="en-US" sz="1800" dirty="0">
                <a:latin typeface="Times New Roman"/>
                <a:cs typeface="Calibri Light"/>
              </a:rPr>
              <a:t>Team Member 2 :KM BUSHRA BANU(240701084)</a:t>
            </a:r>
          </a:p>
          <a:p>
            <a:pPr algn="r"/>
            <a:endParaRPr lang="en-US" sz="1800" dirty="0">
              <a:latin typeface="Times New Roman"/>
              <a:cs typeface="Calibri Light"/>
            </a:endParaRPr>
          </a:p>
          <a:p>
            <a:endParaRPr lang="en-IN" dirty="0"/>
          </a:p>
        </p:txBody>
      </p:sp>
      <p:pic>
        <p:nvPicPr>
          <p:cNvPr id="6" name="Picture 5">
            <a:extLst>
              <a:ext uri="{FF2B5EF4-FFF2-40B4-BE49-F238E27FC236}">
                <a16:creationId xmlns:a16="http://schemas.microsoft.com/office/drawing/2014/main" id="{94296437-2E5D-7843-79C8-196F017C4CB7}"/>
              </a:ext>
            </a:extLst>
          </p:cNvPr>
          <p:cNvPicPr>
            <a:picLocks noChangeAspect="1"/>
          </p:cNvPicPr>
          <p:nvPr/>
        </p:nvPicPr>
        <p:blipFill>
          <a:blip r:embed="rId3"/>
          <a:stretch>
            <a:fillRect/>
          </a:stretch>
        </p:blipFill>
        <p:spPr>
          <a:xfrm>
            <a:off x="687654" y="93449"/>
            <a:ext cx="4222477" cy="1008106"/>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p:nvPr>
        </p:nvSpPr>
        <p:spPr>
          <a:xfrm>
            <a:off x="1097280" y="286603"/>
            <a:ext cx="10058400" cy="1271609"/>
          </a:xfrm>
        </p:spPr>
        <p:txBody>
          <a:bodyPr>
            <a:normAutofit/>
          </a:bodyPr>
          <a:lstStyle/>
          <a:p>
            <a:pPr algn="ctr"/>
            <a:r>
              <a:rPr lang="en-US" sz="3200" b="1" dirty="0">
                <a:latin typeface="Times New Roman"/>
                <a:cs typeface="Times New Roman"/>
              </a:rPr>
              <a:t>ABSTRACT</a:t>
            </a:r>
          </a:p>
        </p:txBody>
      </p:sp>
      <p:sp>
        <p:nvSpPr>
          <p:cNvPr id="4" name="Content Placeholder 3">
            <a:extLst>
              <a:ext uri="{FF2B5EF4-FFF2-40B4-BE49-F238E27FC236}">
                <a16:creationId xmlns:a16="http://schemas.microsoft.com/office/drawing/2014/main" id="{70AC46B0-5E21-4C01-7F34-92903638F874}"/>
              </a:ext>
            </a:extLst>
          </p:cNvPr>
          <p:cNvSpPr>
            <a:spLocks noGrp="1"/>
          </p:cNvSpPr>
          <p:nvPr>
            <p:ph idx="1"/>
          </p:nvPr>
        </p:nvSpPr>
        <p:spPr>
          <a:xfrm>
            <a:off x="1097280" y="1845734"/>
            <a:ext cx="10183430" cy="4023360"/>
          </a:xfrm>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AI-Powered Team Formation Tool</a:t>
            </a:r>
            <a:r>
              <a:rPr lang="en-IN" dirty="0">
                <a:latin typeface="Times New Roman" panose="02020603050405020304" pitchFamily="18" charset="0"/>
                <a:cs typeface="Times New Roman" panose="02020603050405020304" pitchFamily="18" charset="0"/>
              </a:rPr>
              <a:t> is an intelligent application designed to automatically create fair, balanced, and skill-diverse teams based on individual skills, attendance, portfolio submission, and leadership experience. It uses </a:t>
            </a:r>
            <a:r>
              <a:rPr lang="en-IN" b="1" dirty="0">
                <a:latin typeface="Times New Roman" panose="02020603050405020304" pitchFamily="18" charset="0"/>
                <a:cs typeface="Times New Roman" panose="02020603050405020304" pitchFamily="18" charset="0"/>
              </a:rPr>
              <a:t>Artificial Intelligence techniques such as a Forward-Chaining Rule Engine and Constraint Satisfaction Problem (CSP) solving</a:t>
            </a:r>
            <a:r>
              <a:rPr lang="en-IN" dirty="0">
                <a:latin typeface="Times New Roman" panose="02020603050405020304" pitchFamily="18" charset="0"/>
                <a:cs typeface="Times New Roman" panose="02020603050405020304" pitchFamily="18" charset="0"/>
              </a:rPr>
              <a:t> to determine role eligibility and generate suitable teams.</a:t>
            </a:r>
          </a:p>
          <a:p>
            <a:pPr algn="just"/>
            <a:r>
              <a:rPr lang="en-IN" dirty="0">
                <a:latin typeface="Times New Roman" panose="02020603050405020304" pitchFamily="18" charset="0"/>
                <a:cs typeface="Times New Roman" panose="02020603050405020304" pitchFamily="18" charset="0"/>
              </a:rPr>
              <a:t>The system allows users to specify team sizes, required skills, eligible roles, and team member constraints. A backtracking algorithm finds team combinations that satisfy these requirements while maintaining fairness and skill diversity. It also provides fairness metrics and identifies unmet constraints when a perfect team arrangement is not possible. Additionally, the system suggests suitable campus meeting points for the formed teams.</a:t>
            </a:r>
          </a:p>
          <a:p>
            <a:pPr algn="just"/>
            <a:r>
              <a:rPr lang="en-IN" dirty="0">
                <a:latin typeface="Times New Roman" panose="02020603050405020304" pitchFamily="18" charset="0"/>
                <a:cs typeface="Times New Roman" panose="02020603050405020304" pitchFamily="18" charset="0"/>
              </a:rPr>
              <a:t>The application is developed using </a:t>
            </a:r>
            <a:r>
              <a:rPr lang="en-IN" b="1" dirty="0">
                <a:latin typeface="Times New Roman" panose="02020603050405020304" pitchFamily="18" charset="0"/>
                <a:cs typeface="Times New Roman" panose="02020603050405020304" pitchFamily="18" charset="0"/>
              </a:rPr>
              <a:t>Python and </a:t>
            </a:r>
            <a:r>
              <a:rPr lang="en-IN" b="1"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providing a simple and interactive user interface. This tool helps reduce manual effort, improve team organization, and support efficient collaboration in academic and project-based environments.</a:t>
            </a:r>
          </a:p>
          <a:p>
            <a:endParaRPr lang="en-IN" dirty="0"/>
          </a:p>
        </p:txBody>
      </p:sp>
    </p:spTree>
    <p:extLst>
      <p:ext uri="{BB962C8B-B14F-4D97-AF65-F5344CB8AC3E}">
        <p14:creationId xmlns:p14="http://schemas.microsoft.com/office/powerpoint/2010/main" val="3392093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p:nvPr>
        </p:nvSpPr>
        <p:spPr>
          <a:xfrm>
            <a:off x="798700" y="429208"/>
            <a:ext cx="10058400" cy="1558212"/>
          </a:xfrm>
        </p:spPr>
        <p:txBody>
          <a:bodyPr>
            <a:normAutofit fontScale="90000"/>
          </a:bodyPr>
          <a:lstStyle/>
          <a:p>
            <a:pPr marL="91440" indent="-91440">
              <a:buClr>
                <a:schemeClr val="accent1"/>
              </a:buClr>
              <a:buSzPct val="100000"/>
              <a:buFont typeface="Calibri" panose="020F0502020204030204" pitchFamily="34" charset="0"/>
              <a:buChar char=" "/>
            </a:pP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PROBLEM STATEMENT</a:t>
            </a:r>
            <a:br>
              <a:rPr lang="en-IN" sz="3600" b="1" dirty="0"/>
            </a:br>
            <a:endParaRPr lang="en-US" sz="35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BCDB0CAF-98BC-357D-7C6F-795FBCA0A765}"/>
              </a:ext>
            </a:extLst>
          </p:cNvPr>
          <p:cNvSpPr>
            <a:spLocks noGrp="1" noChangeArrowheads="1"/>
          </p:cNvSpPr>
          <p:nvPr>
            <p:ph idx="1"/>
          </p:nvPr>
        </p:nvSpPr>
        <p:spPr bwMode="auto">
          <a:xfrm>
            <a:off x="1150776" y="2151650"/>
            <a:ext cx="10165086" cy="282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IN" dirty="0">
                <a:latin typeface="Times New Roman" panose="02020603050405020304" pitchFamily="18" charset="0"/>
                <a:cs typeface="Times New Roman" panose="02020603050405020304" pitchFamily="18" charset="0"/>
              </a:rPr>
              <a:t>Forming balanced and effective teams manually is a challenging task, as it is difficult to evaluate individual skills, attendance, portfolio contributions, and leadership experience fairly. Traditional team formation methods may result in uneven skill distribution, unbalanced workloads, and unsuitable role assignments.</a:t>
            </a:r>
          </a:p>
          <a:p>
            <a:pPr marL="0" indent="0" algn="just">
              <a:buNone/>
            </a:pPr>
            <a:r>
              <a:rPr lang="en-IN" dirty="0">
                <a:latin typeface="Times New Roman" panose="02020603050405020304" pitchFamily="18" charset="0"/>
                <a:cs typeface="Times New Roman" panose="02020603050405020304" pitchFamily="18" charset="0"/>
              </a:rPr>
              <a:t>Therefore, an AI-powered team formation tool is needed to automatically organize individuals into balanced teams based on predefined requirements and constraints. The system aims to improve fairness, maximize skill diversity, assign suitable roles, and reduce the time and effort required for team formation.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24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A3CBA-A179-F6EE-9C11-FA68BF096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95BE3-DAED-9DDD-C46E-05EF4C92EE82}"/>
              </a:ext>
            </a:extLst>
          </p:cNvPr>
          <p:cNvSpPr>
            <a:spLocks noGrp="1"/>
          </p:cNvSpPr>
          <p:nvPr>
            <p:ph type="title"/>
          </p:nvPr>
        </p:nvSpPr>
        <p:spPr>
          <a:xfrm>
            <a:off x="1066800" y="323927"/>
            <a:ext cx="10058400" cy="954368"/>
          </a:xfrm>
        </p:spPr>
        <p:txBody>
          <a:bodyPr>
            <a:normAutofit/>
          </a:bodyPr>
          <a:lstStyle/>
          <a:p>
            <a:pPr algn="ctr">
              <a:lnSpc>
                <a:spcPct val="100000"/>
              </a:lnSpc>
            </a:pPr>
            <a:r>
              <a:rPr lang="en-US" sz="3200" b="1" dirty="0">
                <a:latin typeface="Times New Roman" panose="02020603050405020304" pitchFamily="18" charset="0"/>
                <a:cs typeface="Times New Roman" panose="02020603050405020304" pitchFamily="18" charset="0"/>
              </a:rPr>
              <a:t>LITERATURE SURVEY</a:t>
            </a:r>
          </a:p>
        </p:txBody>
      </p:sp>
      <p:graphicFrame>
        <p:nvGraphicFramePr>
          <p:cNvPr id="7" name="Content Placeholder 6">
            <a:extLst>
              <a:ext uri="{FF2B5EF4-FFF2-40B4-BE49-F238E27FC236}">
                <a16:creationId xmlns:a16="http://schemas.microsoft.com/office/drawing/2014/main" id="{28570AD5-59F4-C36A-06EE-1893ABDA3C2D}"/>
              </a:ext>
            </a:extLst>
          </p:cNvPr>
          <p:cNvGraphicFramePr>
            <a:graphicFrameLocks noGrp="1"/>
          </p:cNvGraphicFramePr>
          <p:nvPr>
            <p:ph idx="1"/>
            <p:extLst>
              <p:ext uri="{D42A27DB-BD31-4B8C-83A1-F6EECF244321}">
                <p14:modId xmlns:p14="http://schemas.microsoft.com/office/powerpoint/2010/main" val="748222884"/>
              </p:ext>
            </p:extLst>
          </p:nvPr>
        </p:nvGraphicFramePr>
        <p:xfrm>
          <a:off x="522512" y="1763487"/>
          <a:ext cx="11371590" cy="4226765"/>
        </p:xfrm>
        <a:graphic>
          <a:graphicData uri="http://schemas.openxmlformats.org/drawingml/2006/table">
            <a:tbl>
              <a:tblPr firstRow="1" bandRow="1">
                <a:tableStyleId>{5DA37D80-6434-44D0-A028-1B22A696006F}</a:tableStyleId>
              </a:tblPr>
              <a:tblGrid>
                <a:gridCol w="783774">
                  <a:extLst>
                    <a:ext uri="{9D8B030D-6E8A-4147-A177-3AD203B41FA5}">
                      <a16:colId xmlns:a16="http://schemas.microsoft.com/office/drawing/2014/main" val="1920849325"/>
                    </a:ext>
                  </a:extLst>
                </a:gridCol>
                <a:gridCol w="1912775">
                  <a:extLst>
                    <a:ext uri="{9D8B030D-6E8A-4147-A177-3AD203B41FA5}">
                      <a16:colId xmlns:a16="http://schemas.microsoft.com/office/drawing/2014/main" val="1395604916"/>
                    </a:ext>
                  </a:extLst>
                </a:gridCol>
                <a:gridCol w="2883159">
                  <a:extLst>
                    <a:ext uri="{9D8B030D-6E8A-4147-A177-3AD203B41FA5}">
                      <a16:colId xmlns:a16="http://schemas.microsoft.com/office/drawing/2014/main" val="3233688372"/>
                    </a:ext>
                  </a:extLst>
                </a:gridCol>
                <a:gridCol w="3337084">
                  <a:extLst>
                    <a:ext uri="{9D8B030D-6E8A-4147-A177-3AD203B41FA5}">
                      <a16:colId xmlns:a16="http://schemas.microsoft.com/office/drawing/2014/main" val="2579380879"/>
                    </a:ext>
                  </a:extLst>
                </a:gridCol>
                <a:gridCol w="2454798">
                  <a:extLst>
                    <a:ext uri="{9D8B030D-6E8A-4147-A177-3AD203B41FA5}">
                      <a16:colId xmlns:a16="http://schemas.microsoft.com/office/drawing/2014/main" val="1361155760"/>
                    </a:ext>
                  </a:extLst>
                </a:gridCol>
              </a:tblGrid>
              <a:tr h="1378456">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endParaRPr lang="en-IN" dirty="0"/>
                    </a:p>
                    <a:p>
                      <a:pPr marL="0" marR="0" lvl="0" indent="0" algn="ctr" defTabSz="914400" rtl="0" eaLnBrk="1" fontAlgn="auto" latinLnBrk="0" hangingPunct="1">
                        <a:lnSpc>
                          <a:spcPct val="150000"/>
                        </a:lnSpc>
                        <a:spcBef>
                          <a:spcPts val="0"/>
                        </a:spcBef>
                        <a:spcAft>
                          <a:spcPts val="0"/>
                        </a:spcAft>
                        <a:buClrTx/>
                        <a:buSzTx/>
                        <a:buFontTx/>
                        <a:buNone/>
                        <a:tabLst/>
                        <a:defRPr/>
                      </a:pPr>
                      <a:r>
                        <a:rPr lang="en-IN" dirty="0"/>
                        <a:t>S. No.</a:t>
                      </a:r>
                    </a:p>
                    <a:p>
                      <a:pPr algn="ctr">
                        <a:lnSpc>
                          <a:spcPct val="150000"/>
                        </a:lnSpc>
                        <a:buNone/>
                      </a:pPr>
                      <a:endParaRPr lang="en-IN" dirty="0"/>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endParaRPr lang="en-IN" dirty="0"/>
                    </a:p>
                    <a:p>
                      <a:pPr marL="0" marR="0" lvl="0" indent="0" algn="ctr" defTabSz="914400" rtl="0" eaLnBrk="1" fontAlgn="auto" latinLnBrk="0" hangingPunct="1">
                        <a:lnSpc>
                          <a:spcPct val="150000"/>
                        </a:lnSpc>
                        <a:spcBef>
                          <a:spcPts val="0"/>
                        </a:spcBef>
                        <a:spcAft>
                          <a:spcPts val="0"/>
                        </a:spcAft>
                        <a:buClrTx/>
                        <a:buSzTx/>
                        <a:buFontTx/>
                        <a:buNone/>
                        <a:tabLst/>
                        <a:defRPr/>
                      </a:pPr>
                      <a:r>
                        <a:rPr lang="en-IN" dirty="0"/>
                        <a:t>Author(s) &amp; Year</a:t>
                      </a:r>
                    </a:p>
                    <a:p>
                      <a:pPr algn="ctr">
                        <a:lnSpc>
                          <a:spcPct val="150000"/>
                        </a:lnSpc>
                      </a:pPr>
                      <a:endParaRPr lang="en-IN" dirty="0"/>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endParaRPr lang="en-IN" dirty="0"/>
                    </a:p>
                    <a:p>
                      <a:pPr marL="0" marR="0" lvl="0" indent="0" algn="ctr" defTabSz="914400" rtl="0" eaLnBrk="1" fontAlgn="auto" latinLnBrk="0" hangingPunct="1">
                        <a:lnSpc>
                          <a:spcPct val="150000"/>
                        </a:lnSpc>
                        <a:spcBef>
                          <a:spcPts val="0"/>
                        </a:spcBef>
                        <a:spcAft>
                          <a:spcPts val="0"/>
                        </a:spcAft>
                        <a:buClrTx/>
                        <a:buSzTx/>
                        <a:buFontTx/>
                        <a:buNone/>
                        <a:tabLst/>
                        <a:defRPr/>
                      </a:pPr>
                      <a:r>
                        <a:rPr lang="en-IN" dirty="0"/>
                        <a:t>Research Paper Title</a:t>
                      </a:r>
                    </a:p>
                    <a:p>
                      <a:pPr algn="ctr">
                        <a:lnSpc>
                          <a:spcPct val="150000"/>
                        </a:lnSpc>
                        <a:buNone/>
                      </a:pPr>
                      <a:endParaRPr lang="en-IN" dirty="0"/>
                    </a:p>
                  </a:txBody>
                  <a:tcPr anchor="ctr"/>
                </a:tc>
                <a:tc>
                  <a:txBody>
                    <a:bodyPr/>
                    <a:lstStyle/>
                    <a:p>
                      <a:pPr algn="ctr">
                        <a:lnSpc>
                          <a:spcPct val="150000"/>
                        </a:lnSpc>
                      </a:pPr>
                      <a:r>
                        <a:rPr lang="en-IN" dirty="0"/>
                        <a:t>  </a:t>
                      </a:r>
                    </a:p>
                    <a:p>
                      <a:pPr algn="ctr">
                        <a:lnSpc>
                          <a:spcPct val="150000"/>
                        </a:lnSpc>
                      </a:pPr>
                      <a:r>
                        <a:rPr lang="en-IN" dirty="0"/>
                        <a:t> Methodology </a:t>
                      </a:r>
                    </a:p>
                  </a:txBody>
                  <a:tcPr/>
                </a:tc>
                <a:tc>
                  <a:txBody>
                    <a:bodyPr/>
                    <a:lstStyle/>
                    <a:p>
                      <a:pPr algn="ctr">
                        <a:lnSpc>
                          <a:spcPct val="150000"/>
                        </a:lnSpc>
                      </a:pPr>
                      <a:endParaRPr lang="en-IN" dirty="0"/>
                    </a:p>
                    <a:p>
                      <a:pPr algn="ctr">
                        <a:lnSpc>
                          <a:spcPct val="150000"/>
                        </a:lnSpc>
                      </a:pPr>
                      <a:r>
                        <a:rPr lang="en-IN" dirty="0"/>
                        <a:t>Limitation</a:t>
                      </a:r>
                    </a:p>
                  </a:txBody>
                  <a:tcPr/>
                </a:tc>
                <a:extLst>
                  <a:ext uri="{0D108BD9-81ED-4DB2-BD59-A6C34878D82A}">
                    <a16:rowId xmlns:a16="http://schemas.microsoft.com/office/drawing/2014/main" val="1100918183"/>
                  </a:ext>
                </a:extLst>
              </a:tr>
              <a:tr h="1276828">
                <a:tc>
                  <a:txBody>
                    <a:bodyPr/>
                    <a:lstStyle/>
                    <a:p>
                      <a:pPr algn="ctr">
                        <a:lnSpc>
                          <a:spcPct val="100000"/>
                        </a:lnSpc>
                      </a:pPr>
                      <a:endParaRPr lang="en-US" dirty="0"/>
                    </a:p>
                    <a:p>
                      <a:pPr algn="ctr">
                        <a:lnSpc>
                          <a:spcPct val="100000"/>
                        </a:lnSpc>
                      </a:pPr>
                      <a:r>
                        <a:rPr lang="en-US" dirty="0"/>
                        <a:t>1</a:t>
                      </a:r>
                    </a:p>
                  </a:txBody>
                  <a:tcPr/>
                </a:tc>
                <a:tc>
                  <a:txBody>
                    <a:bodyPr/>
                    <a:lstStyle/>
                    <a:p>
                      <a:pPr>
                        <a:lnSpc>
                          <a:spcPct val="100000"/>
                        </a:lnSpc>
                        <a:buNone/>
                      </a:pPr>
                      <a:r>
                        <a:rPr lang="da-DK" dirty="0"/>
                        <a:t>J. Wang et al. (2016)</a:t>
                      </a:r>
                      <a:endParaRPr lang="en-IN" dirty="0"/>
                    </a:p>
                  </a:txBody>
                  <a:tcPr anchor="ctr"/>
                </a:tc>
                <a:tc>
                  <a:txBody>
                    <a:bodyPr/>
                    <a:lstStyle/>
                    <a:p>
                      <a:pPr algn="l">
                        <a:lnSpc>
                          <a:spcPct val="100000"/>
                        </a:lnSpc>
                        <a:buNone/>
                      </a:pPr>
                      <a:r>
                        <a:rPr lang="en-IN" dirty="0"/>
                        <a:t>USTF: A Unified System of Team Formation</a:t>
                      </a:r>
                    </a:p>
                  </a:txBody>
                  <a:tcPr anchor="ctr"/>
                </a:tc>
                <a:tc>
                  <a:txBody>
                    <a:bodyPr/>
                    <a:lstStyle/>
                    <a:p>
                      <a:pPr algn="l">
                        <a:lnSpc>
                          <a:spcPct val="100000"/>
                        </a:lnSpc>
                      </a:pPr>
                      <a:r>
                        <a:rPr lang="en-IN" dirty="0"/>
                        <a:t>Compares team formation algorithms and evaluates their performance using real-world datasets.</a:t>
                      </a:r>
                    </a:p>
                  </a:txBody>
                  <a:tcPr/>
                </a:tc>
                <a:tc>
                  <a:txBody>
                    <a:bodyPr/>
                    <a:lstStyle/>
                    <a:p>
                      <a:pPr algn="l">
                        <a:lnSpc>
                          <a:spcPct val="100000"/>
                        </a:lnSpc>
                      </a:pPr>
                      <a:r>
                        <a:rPr lang="en-IN" dirty="0"/>
                        <a:t>Focuses mainly on team formation in social networks and algorithm benchmarking. </a:t>
                      </a:r>
                    </a:p>
                  </a:txBody>
                  <a:tcPr/>
                </a:tc>
                <a:extLst>
                  <a:ext uri="{0D108BD9-81ED-4DB2-BD59-A6C34878D82A}">
                    <a16:rowId xmlns:a16="http://schemas.microsoft.com/office/drawing/2014/main" val="562146161"/>
                  </a:ext>
                </a:extLst>
              </a:tr>
              <a:tr h="1571481">
                <a:tc>
                  <a:txBody>
                    <a:bodyPr/>
                    <a:lstStyle/>
                    <a:p>
                      <a:pPr algn="ctr">
                        <a:lnSpc>
                          <a:spcPct val="100000"/>
                        </a:lnSpc>
                      </a:pPr>
                      <a:endParaRPr lang="en-US" dirty="0"/>
                    </a:p>
                    <a:p>
                      <a:pPr algn="ctr">
                        <a:lnSpc>
                          <a:spcPct val="100000"/>
                        </a:lnSpc>
                      </a:pPr>
                      <a:endParaRPr lang="en-US" dirty="0"/>
                    </a:p>
                    <a:p>
                      <a:pPr algn="ctr">
                        <a:lnSpc>
                          <a:spcPct val="100000"/>
                        </a:lnSpc>
                      </a:pPr>
                      <a:r>
                        <a:rPr lang="en-US" dirty="0"/>
                        <a:t>2</a:t>
                      </a:r>
                      <a:endParaRPr lang="en-IN" dirty="0"/>
                    </a:p>
                  </a:txBody>
                  <a:tcPr/>
                </a:tc>
                <a:tc>
                  <a:txBody>
                    <a:bodyPr/>
                    <a:lstStyle/>
                    <a:p>
                      <a:pPr>
                        <a:lnSpc>
                          <a:spcPct val="100000"/>
                        </a:lnSpc>
                        <a:buNone/>
                      </a:pPr>
                      <a:r>
                        <a:rPr lang="en-IN" dirty="0"/>
                        <a:t>Robert </a:t>
                      </a:r>
                      <a:r>
                        <a:rPr lang="en-IN" dirty="0" err="1"/>
                        <a:t>Bredereck</a:t>
                      </a:r>
                      <a:r>
                        <a:rPr lang="en-IN" dirty="0"/>
                        <a:t> et al. (2018)</a:t>
                      </a:r>
                    </a:p>
                  </a:txBody>
                  <a:tcPr anchor="ctr"/>
                </a:tc>
                <a:tc>
                  <a:txBody>
                    <a:bodyPr/>
                    <a:lstStyle/>
                    <a:p>
                      <a:pPr algn="l">
                        <a:lnSpc>
                          <a:spcPct val="100000"/>
                        </a:lnSpc>
                      </a:pPr>
                      <a:r>
                        <a:rPr lang="en-IN" dirty="0"/>
                        <a:t>Parameterized Complexity of Team Formation in Social Networks</a:t>
                      </a:r>
                    </a:p>
                  </a:txBody>
                  <a:tcPr/>
                </a:tc>
                <a:tc>
                  <a:txBody>
                    <a:bodyPr/>
                    <a:lstStyle/>
                    <a:p>
                      <a:pPr algn="l">
                        <a:lnSpc>
                          <a:spcPct val="100000"/>
                        </a:lnSpc>
                      </a:pPr>
                      <a:r>
                        <a:rPr lang="en-IN" dirty="0"/>
                        <a:t>Studies the computational complexity of forming skill-based teams while minimizing communication costs.</a:t>
                      </a:r>
                    </a:p>
                  </a:txBody>
                  <a:tcPr/>
                </a:tc>
                <a:tc>
                  <a:txBody>
                    <a:bodyPr/>
                    <a:lstStyle/>
                    <a:p>
                      <a:pPr algn="l">
                        <a:lnSpc>
                          <a:spcPct val="100000"/>
                        </a:lnSpc>
                      </a:pPr>
                      <a:r>
                        <a:rPr lang="en-IN" dirty="0"/>
                        <a:t>Finding suitable teams can become computationally challenging as constraints increase.</a:t>
                      </a:r>
                    </a:p>
                  </a:txBody>
                  <a:tcPr/>
                </a:tc>
                <a:extLst>
                  <a:ext uri="{0D108BD9-81ED-4DB2-BD59-A6C34878D82A}">
                    <a16:rowId xmlns:a16="http://schemas.microsoft.com/office/drawing/2014/main" val="4127951308"/>
                  </a:ext>
                </a:extLst>
              </a:tr>
            </a:tbl>
          </a:graphicData>
        </a:graphic>
      </p:graphicFrame>
    </p:spTree>
    <p:extLst>
      <p:ext uri="{BB962C8B-B14F-4D97-AF65-F5344CB8AC3E}">
        <p14:creationId xmlns:p14="http://schemas.microsoft.com/office/powerpoint/2010/main" val="2138724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3E8D1-C981-DDC2-EFAB-03CCFA0A6BC5}"/>
              </a:ext>
            </a:extLst>
          </p:cNvPr>
          <p:cNvSpPr>
            <a:spLocks noGrp="1"/>
          </p:cNvSpPr>
          <p:nvPr>
            <p:ph type="title"/>
          </p:nvPr>
        </p:nvSpPr>
        <p:spPr>
          <a:xfrm>
            <a:off x="1097280" y="286603"/>
            <a:ext cx="10058400" cy="1150311"/>
          </a:xfrm>
        </p:spPr>
        <p:txBody>
          <a:bodyPr>
            <a:normAutofit/>
          </a:bodyPr>
          <a:lstStyle/>
          <a:p>
            <a:pPr algn="ctr"/>
            <a:r>
              <a:rPr lang="en-US" sz="3200" b="1" dirty="0">
                <a:latin typeface="Times New Roman" panose="02020603050405020304" pitchFamily="18" charset="0"/>
                <a:cs typeface="Times New Roman" panose="02020603050405020304" pitchFamily="18" charset="0"/>
              </a:rPr>
              <a:t>LITERATURE SURVEY</a:t>
            </a:r>
            <a:endParaRPr lang="en-IN" sz="3200" dirty="0"/>
          </a:p>
        </p:txBody>
      </p:sp>
      <p:graphicFrame>
        <p:nvGraphicFramePr>
          <p:cNvPr id="4" name="Content Placeholder 3">
            <a:extLst>
              <a:ext uri="{FF2B5EF4-FFF2-40B4-BE49-F238E27FC236}">
                <a16:creationId xmlns:a16="http://schemas.microsoft.com/office/drawing/2014/main" id="{B68E76B5-9923-B41D-0D2D-DD4028893F87}"/>
              </a:ext>
            </a:extLst>
          </p:cNvPr>
          <p:cNvGraphicFramePr>
            <a:graphicFrameLocks noGrp="1"/>
          </p:cNvGraphicFramePr>
          <p:nvPr>
            <p:ph idx="1"/>
            <p:extLst>
              <p:ext uri="{D42A27DB-BD31-4B8C-83A1-F6EECF244321}">
                <p14:modId xmlns:p14="http://schemas.microsoft.com/office/powerpoint/2010/main" val="470581032"/>
              </p:ext>
            </p:extLst>
          </p:nvPr>
        </p:nvGraphicFramePr>
        <p:xfrm>
          <a:off x="541176" y="1846263"/>
          <a:ext cx="11299371" cy="4314298"/>
        </p:xfrm>
        <a:graphic>
          <a:graphicData uri="http://schemas.openxmlformats.org/drawingml/2006/table">
            <a:tbl>
              <a:tblPr firstRow="1" bandRow="1">
                <a:tableStyleId>{5DA37D80-6434-44D0-A028-1B22A696006F}</a:tableStyleId>
              </a:tblPr>
              <a:tblGrid>
                <a:gridCol w="823806">
                  <a:extLst>
                    <a:ext uri="{9D8B030D-6E8A-4147-A177-3AD203B41FA5}">
                      <a16:colId xmlns:a16="http://schemas.microsoft.com/office/drawing/2014/main" val="1597222027"/>
                    </a:ext>
                  </a:extLst>
                </a:gridCol>
                <a:gridCol w="2294889">
                  <a:extLst>
                    <a:ext uri="{9D8B030D-6E8A-4147-A177-3AD203B41FA5}">
                      <a16:colId xmlns:a16="http://schemas.microsoft.com/office/drawing/2014/main" val="1249258664"/>
                    </a:ext>
                  </a:extLst>
                </a:gridCol>
                <a:gridCol w="3298789">
                  <a:extLst>
                    <a:ext uri="{9D8B030D-6E8A-4147-A177-3AD203B41FA5}">
                      <a16:colId xmlns:a16="http://schemas.microsoft.com/office/drawing/2014/main" val="702255910"/>
                    </a:ext>
                  </a:extLst>
                </a:gridCol>
                <a:gridCol w="2324311">
                  <a:extLst>
                    <a:ext uri="{9D8B030D-6E8A-4147-A177-3AD203B41FA5}">
                      <a16:colId xmlns:a16="http://schemas.microsoft.com/office/drawing/2014/main" val="3830978700"/>
                    </a:ext>
                  </a:extLst>
                </a:gridCol>
                <a:gridCol w="2557576">
                  <a:extLst>
                    <a:ext uri="{9D8B030D-6E8A-4147-A177-3AD203B41FA5}">
                      <a16:colId xmlns:a16="http://schemas.microsoft.com/office/drawing/2014/main" val="3008826573"/>
                    </a:ext>
                  </a:extLst>
                </a:gridCol>
              </a:tblGrid>
              <a:tr h="870429">
                <a:tc>
                  <a:txBody>
                    <a:bodyPr/>
                    <a:lstStyle/>
                    <a:p>
                      <a:pPr algn="ctr">
                        <a:buNone/>
                      </a:pPr>
                      <a:r>
                        <a:rPr lang="en-IN" dirty="0"/>
                        <a:t>S. No.</a:t>
                      </a:r>
                    </a:p>
                  </a:txBody>
                  <a:tcPr anchor="ctr"/>
                </a:tc>
                <a:tc>
                  <a:txBody>
                    <a:bodyPr/>
                    <a:lstStyle/>
                    <a:p>
                      <a:pPr algn="ctr"/>
                      <a:endParaRPr lang="en-IN" dirty="0"/>
                    </a:p>
                    <a:p>
                      <a:pPr algn="ctr"/>
                      <a:r>
                        <a:rPr lang="en-IN" dirty="0"/>
                        <a:t>Author(s) &amp; Year</a:t>
                      </a:r>
                    </a:p>
                  </a:txBody>
                  <a:tcPr/>
                </a:tc>
                <a:tc>
                  <a:txBody>
                    <a:bodyPr/>
                    <a:lstStyle/>
                    <a:p>
                      <a:pPr algn="ctr">
                        <a:buNone/>
                      </a:pPr>
                      <a:r>
                        <a:rPr lang="en-IN" dirty="0"/>
                        <a:t>Research Paper Title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Methodology</a:t>
                      </a:r>
                      <a:endParaRPr lang="en-IN" sz="1800" b="1" kern="1200" dirty="0">
                        <a:solidFill>
                          <a:schemeClr val="tx1"/>
                        </a:solidFill>
                        <a:latin typeface="+mn-lt"/>
                        <a:ea typeface="+mn-ea"/>
                        <a:cs typeface="+mn-cs"/>
                      </a:endParaRPr>
                    </a:p>
                    <a:p>
                      <a:pPr algn="ctr"/>
                      <a:endParaRPr lang="en-IN" dirty="0"/>
                    </a:p>
                  </a:txBody>
                  <a:tcPr/>
                </a:tc>
                <a:tc>
                  <a:txBody>
                    <a:bodyPr/>
                    <a:lstStyle/>
                    <a:p>
                      <a:pPr algn="ctr"/>
                      <a:endParaRPr lang="en-IN" dirty="0"/>
                    </a:p>
                    <a:p>
                      <a:pPr algn="ctr"/>
                      <a:r>
                        <a:rPr lang="en-IN" dirty="0"/>
                        <a:t>Limitation</a:t>
                      </a:r>
                    </a:p>
                  </a:txBody>
                  <a:tcPr/>
                </a:tc>
                <a:extLst>
                  <a:ext uri="{0D108BD9-81ED-4DB2-BD59-A6C34878D82A}">
                    <a16:rowId xmlns:a16="http://schemas.microsoft.com/office/drawing/2014/main" val="2542554234"/>
                  </a:ext>
                </a:extLst>
              </a:tr>
              <a:tr h="1392687">
                <a:tc>
                  <a:txBody>
                    <a:bodyPr/>
                    <a:lstStyle/>
                    <a:p>
                      <a:pPr algn="l"/>
                      <a:endParaRPr lang="en-US" dirty="0"/>
                    </a:p>
                    <a:p>
                      <a:pPr algn="l"/>
                      <a:endParaRPr lang="en-US" dirty="0"/>
                    </a:p>
                    <a:p>
                      <a:pPr algn="l"/>
                      <a:r>
                        <a:rPr lang="en-US" dirty="0"/>
                        <a:t>3</a:t>
                      </a:r>
                      <a:endParaRPr lang="en-IN" dirty="0"/>
                    </a:p>
                  </a:txBody>
                  <a:tcPr/>
                </a:tc>
                <a:tc>
                  <a:txBody>
                    <a:bodyPr/>
                    <a:lstStyle/>
                    <a:p>
                      <a:pPr algn="l">
                        <a:buNone/>
                      </a:pPr>
                      <a:r>
                        <a:rPr lang="en-IN" dirty="0"/>
                        <a:t>Kalyani Selvarajah et al. (2021)</a:t>
                      </a:r>
                    </a:p>
                  </a:txBody>
                  <a:tcPr anchor="ctr"/>
                </a:tc>
                <a:tc>
                  <a:txBody>
                    <a:bodyPr/>
                    <a:lstStyle/>
                    <a:p>
                      <a:pPr algn="l"/>
                      <a:r>
                        <a:rPr lang="en-IN" dirty="0"/>
                        <a:t>A Unified Framework for Effective Team Formation in Social Networks</a:t>
                      </a:r>
                    </a:p>
                  </a:txBody>
                  <a:tcPr/>
                </a:tc>
                <a:tc>
                  <a:txBody>
                    <a:bodyPr/>
                    <a:lstStyle/>
                    <a:p>
                      <a:pPr algn="l"/>
                      <a:r>
                        <a:rPr lang="en-IN" dirty="0"/>
                        <a:t>Uses a multi-objective approach considering expertise, communication costs, trust, and proximity.</a:t>
                      </a:r>
                    </a:p>
                  </a:txBody>
                  <a:tcPr/>
                </a:tc>
                <a:tc>
                  <a:txBody>
                    <a:bodyPr/>
                    <a:lstStyle/>
                    <a:p>
                      <a:pPr algn="l"/>
                      <a:r>
                        <a:rPr lang="en-IN" dirty="0"/>
                        <a:t>The framework involves multiple objectives and may require complex optimization.</a:t>
                      </a:r>
                    </a:p>
                  </a:txBody>
                  <a:tcPr/>
                </a:tc>
                <a:extLst>
                  <a:ext uri="{0D108BD9-81ED-4DB2-BD59-A6C34878D82A}">
                    <a16:rowId xmlns:a16="http://schemas.microsoft.com/office/drawing/2014/main" val="1711713025"/>
                  </a:ext>
                </a:extLst>
              </a:tr>
              <a:tr h="1936858">
                <a:tc>
                  <a:txBody>
                    <a:bodyPr/>
                    <a:lstStyle/>
                    <a:p>
                      <a:pPr algn="l"/>
                      <a:endParaRPr lang="en-US" dirty="0"/>
                    </a:p>
                    <a:p>
                      <a:pPr algn="l"/>
                      <a:endParaRPr lang="en-US" dirty="0"/>
                    </a:p>
                    <a:p>
                      <a:pPr algn="l"/>
                      <a:r>
                        <a:rPr lang="en-US" dirty="0"/>
                        <a:t>4</a:t>
                      </a:r>
                      <a:endParaRPr lang="en-IN" dirty="0"/>
                    </a:p>
                  </a:txBody>
                  <a:tcPr/>
                </a:tc>
                <a:tc>
                  <a:txBody>
                    <a:bodyPr/>
                    <a:lstStyle/>
                    <a:p>
                      <a:pPr algn="l"/>
                      <a:endParaRPr lang="en-IN" dirty="0"/>
                    </a:p>
                    <a:p>
                      <a:pPr algn="l"/>
                      <a:endParaRPr lang="en-IN" dirty="0"/>
                    </a:p>
                    <a:p>
                      <a:pPr algn="l"/>
                      <a:r>
                        <a:rPr lang="en-IN" dirty="0"/>
                        <a:t>Diego Gómez-Zará et al. (2022)</a:t>
                      </a:r>
                    </a:p>
                  </a:txBody>
                  <a:tcPr/>
                </a:tc>
                <a:tc>
                  <a:txBody>
                    <a:bodyPr/>
                    <a:lstStyle/>
                    <a:p>
                      <a:pPr algn="l"/>
                      <a:r>
                        <a:rPr lang="en-IN" dirty="0"/>
                        <a:t>In Search of Diverse and Connected Teams: A Computational Approach to Assemble Diverse Teams Based on Members' Social Network</a:t>
                      </a:r>
                    </a:p>
                  </a:txBody>
                  <a:tcPr/>
                </a:tc>
                <a:tc>
                  <a:txBody>
                    <a:bodyPr/>
                    <a:lstStyle/>
                    <a:p>
                      <a:pPr algn="l"/>
                      <a:r>
                        <a:rPr lang="en-IN" dirty="0"/>
                        <a:t>Uses NSGA-II, a multi-objective genetic algorithm, to form diverse teams while considering existing social connections.</a:t>
                      </a:r>
                    </a:p>
                  </a:txBody>
                  <a:tcPr/>
                </a:tc>
                <a:tc>
                  <a:txBody>
                    <a:bodyPr/>
                    <a:lstStyle/>
                    <a:p>
                      <a:pPr algn="l"/>
                      <a:r>
                        <a:rPr lang="en-IN" dirty="0"/>
                        <a:t>Requires additional information about members' characteristics and social connections.</a:t>
                      </a:r>
                    </a:p>
                  </a:txBody>
                  <a:tcPr/>
                </a:tc>
                <a:extLst>
                  <a:ext uri="{0D108BD9-81ED-4DB2-BD59-A6C34878D82A}">
                    <a16:rowId xmlns:a16="http://schemas.microsoft.com/office/drawing/2014/main" val="2300021867"/>
                  </a:ext>
                </a:extLst>
              </a:tr>
            </a:tbl>
          </a:graphicData>
        </a:graphic>
      </p:graphicFrame>
    </p:spTree>
    <p:extLst>
      <p:ext uri="{BB962C8B-B14F-4D97-AF65-F5344CB8AC3E}">
        <p14:creationId xmlns:p14="http://schemas.microsoft.com/office/powerpoint/2010/main" val="912672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DC2B7-2E87-8828-36B5-BBD92312BB7B}"/>
              </a:ext>
            </a:extLst>
          </p:cNvPr>
          <p:cNvSpPr>
            <a:spLocks noGrp="1"/>
          </p:cNvSpPr>
          <p:nvPr>
            <p:ph type="title"/>
          </p:nvPr>
        </p:nvSpPr>
        <p:spPr>
          <a:xfrm>
            <a:off x="1097280" y="286603"/>
            <a:ext cx="9819536" cy="590475"/>
          </a:xfrm>
        </p:spPr>
        <p:txBody>
          <a:bodyPr>
            <a:normAutofit/>
          </a:bodyPr>
          <a:lstStyle/>
          <a:p>
            <a:pPr algn="ctr"/>
            <a:r>
              <a:rPr lang="en-US" sz="3600" b="1" dirty="0">
                <a:latin typeface="Times New Roman" panose="02020603050405020304" pitchFamily="18" charset="0"/>
                <a:cs typeface="Times New Roman" panose="02020603050405020304" pitchFamily="18" charset="0"/>
              </a:rPr>
              <a:t>ARCHITECTURE FLOW DIAGRAM</a:t>
            </a:r>
            <a:endParaRPr lang="en-IN" sz="36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C092B5D9-48E7-94D3-E360-732B723506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0465" y="1101012"/>
            <a:ext cx="10888825" cy="5243804"/>
          </a:xfrm>
          <a:prstGeom prst="rect">
            <a:avLst/>
          </a:prstGeom>
        </p:spPr>
      </p:pic>
    </p:spTree>
    <p:extLst>
      <p:ext uri="{BB962C8B-B14F-4D97-AF65-F5344CB8AC3E}">
        <p14:creationId xmlns:p14="http://schemas.microsoft.com/office/powerpoint/2010/main" val="3629829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C044A-5012-16FE-5E89-9E7AA8031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A1C6D-FDDE-AB28-17BD-C7614BC78782}"/>
              </a:ext>
            </a:extLst>
          </p:cNvPr>
          <p:cNvSpPr>
            <a:spLocks noGrp="1"/>
          </p:cNvSpPr>
          <p:nvPr>
            <p:ph type="title"/>
          </p:nvPr>
        </p:nvSpPr>
        <p:spPr/>
        <p:txBody>
          <a:bodyPr>
            <a:normAutofit/>
          </a:bodyPr>
          <a:lstStyle/>
          <a:p>
            <a:pPr algn="ctr"/>
            <a:r>
              <a:rPr lang="en-US" b="1" dirty="0"/>
              <a:t>PROPOSED SYSTEM</a:t>
            </a:r>
          </a:p>
        </p:txBody>
      </p:sp>
      <p:sp>
        <p:nvSpPr>
          <p:cNvPr id="3" name="Content Placeholder 2">
            <a:extLst>
              <a:ext uri="{FF2B5EF4-FFF2-40B4-BE49-F238E27FC236}">
                <a16:creationId xmlns:a16="http://schemas.microsoft.com/office/drawing/2014/main" id="{7E425F34-672D-E2C4-2569-ED42694BBE37}"/>
              </a:ext>
            </a:extLst>
          </p:cNvPr>
          <p:cNvSpPr>
            <a:spLocks noGrp="1"/>
          </p:cNvSpPr>
          <p:nvPr>
            <p:ph idx="1"/>
          </p:nvPr>
        </p:nvSpPr>
        <p:spPr>
          <a:xfrm>
            <a:off x="1181255" y="2284272"/>
            <a:ext cx="10058400" cy="3099491"/>
          </a:xfrm>
        </p:spPr>
        <p:txBody>
          <a:bodyPr>
            <a:normAutofit/>
          </a:bodyPr>
          <a:lstStyle/>
          <a:p>
            <a:pPr algn="just">
              <a:lnSpc>
                <a:spcPct val="100000"/>
              </a:lnSpc>
            </a:pPr>
            <a:r>
              <a:rPr lang="en-IN" dirty="0">
                <a:latin typeface="Times New Roman" panose="02020603050405020304" pitchFamily="18" charset="0"/>
                <a:cs typeface="Times New Roman" panose="02020603050405020304" pitchFamily="18" charset="0"/>
              </a:rPr>
              <a:t>The proposed system automatically forms balanced and effective teams using an AI-based, rule-driven approach. It considers participants’ skills, attendance, portfolio submission, and leadership experience to create suitable teams.</a:t>
            </a:r>
          </a:p>
          <a:p>
            <a:pPr algn="just">
              <a:lnSpc>
                <a:spcPct val="100000"/>
              </a:lnSpc>
            </a:pPr>
            <a:r>
              <a:rPr lang="en-IN" dirty="0">
                <a:latin typeface="Times New Roman" panose="02020603050405020304" pitchFamily="18" charset="0"/>
                <a:cs typeface="Times New Roman" panose="02020603050405020304" pitchFamily="18" charset="0"/>
              </a:rPr>
              <a:t>The system uses a </a:t>
            </a:r>
            <a:r>
              <a:rPr lang="en-IN" b="1" dirty="0">
                <a:latin typeface="Times New Roman" panose="02020603050405020304" pitchFamily="18" charset="0"/>
                <a:cs typeface="Times New Roman" panose="02020603050405020304" pitchFamily="18" charset="0"/>
              </a:rPr>
              <a:t>Forward-Chaining Rule Engine</a:t>
            </a:r>
            <a:r>
              <a:rPr lang="en-IN" dirty="0">
                <a:latin typeface="Times New Roman" panose="02020603050405020304" pitchFamily="18" charset="0"/>
                <a:cs typeface="Times New Roman" panose="02020603050405020304" pitchFamily="18" charset="0"/>
              </a:rPr>
              <a:t> to identify eligible participants and a </a:t>
            </a:r>
            <a:r>
              <a:rPr lang="en-IN" b="1" dirty="0">
                <a:latin typeface="Times New Roman" panose="02020603050405020304" pitchFamily="18" charset="0"/>
                <a:cs typeface="Times New Roman" panose="02020603050405020304" pitchFamily="18" charset="0"/>
              </a:rPr>
              <a:t>Constraint Satisfaction Problem (CSP) with backtracking</a:t>
            </a:r>
            <a:r>
              <a:rPr lang="en-IN" dirty="0">
                <a:latin typeface="Times New Roman" panose="02020603050405020304" pitchFamily="18" charset="0"/>
                <a:cs typeface="Times New Roman" panose="02020603050405020304" pitchFamily="18" charset="0"/>
              </a:rPr>
              <a:t> to generate teams that satisfy predefined conditions. A fairness evaluation module checks skill distribution, role allocation, and team balance. It also recommends suitable campus meeting points for the formed teams.</a:t>
            </a:r>
          </a:p>
          <a:p>
            <a:endParaRPr lang="en-IN" dirty="0"/>
          </a:p>
        </p:txBody>
      </p:sp>
    </p:spTree>
    <p:extLst>
      <p:ext uri="{BB962C8B-B14F-4D97-AF65-F5344CB8AC3E}">
        <p14:creationId xmlns:p14="http://schemas.microsoft.com/office/powerpoint/2010/main" val="2092783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p:nvPr>
        </p:nvSpPr>
        <p:spPr>
          <a:xfrm>
            <a:off x="1152331" y="261258"/>
            <a:ext cx="10058400" cy="1035698"/>
          </a:xfrm>
        </p:spPr>
        <p:txBody>
          <a:bodyPr>
            <a:normAutofit/>
          </a:bodyPr>
          <a:lstStyle/>
          <a:p>
            <a:pPr algn="ctr"/>
            <a:r>
              <a:rPr lang="en-US" sz="3500" b="1" dirty="0">
                <a:latin typeface="Times New Roman"/>
                <a:cs typeface="Times New Roman"/>
              </a:rPr>
              <a:t>IMPLEMETATION DETAILS</a:t>
            </a:r>
          </a:p>
        </p:txBody>
      </p:sp>
      <p:sp>
        <p:nvSpPr>
          <p:cNvPr id="3" name="Content Placeholder 2">
            <a:extLst>
              <a:ext uri="{FF2B5EF4-FFF2-40B4-BE49-F238E27FC236}">
                <a16:creationId xmlns:a16="http://schemas.microsoft.com/office/drawing/2014/main" id="{E522F891-2607-7FE5-FCDF-83A605C4B491}"/>
              </a:ext>
            </a:extLst>
          </p:cNvPr>
          <p:cNvSpPr>
            <a:spLocks noGrp="1"/>
          </p:cNvSpPr>
          <p:nvPr>
            <p:ph idx="1"/>
          </p:nvPr>
        </p:nvSpPr>
        <p:spPr>
          <a:xfrm>
            <a:off x="634482" y="1819468"/>
            <a:ext cx="11094098" cy="4879911"/>
          </a:xfrm>
        </p:spPr>
        <p:txBody>
          <a:bodyPr>
            <a:normAutofit fontScale="40000" lnSpcReduction="20000"/>
          </a:bodyPr>
          <a:lstStyle/>
          <a:p>
            <a:r>
              <a:rPr lang="en-IN" sz="5000" b="1" dirty="0">
                <a:latin typeface="Times New Roman" panose="02020603050405020304" pitchFamily="18" charset="0"/>
                <a:cs typeface="Times New Roman" panose="02020603050405020304" pitchFamily="18" charset="0"/>
              </a:rPr>
              <a:t>1. Frontend</a:t>
            </a:r>
            <a:endParaRPr lang="en-IN" sz="5000" dirty="0">
              <a:latin typeface="Times New Roman" panose="02020603050405020304" pitchFamily="18" charset="0"/>
              <a:cs typeface="Times New Roman" panose="02020603050405020304" pitchFamily="18" charset="0"/>
            </a:endParaRPr>
          </a:p>
          <a:p>
            <a:pPr lvl="0"/>
            <a:r>
              <a:rPr lang="en-IN" sz="5000" b="1" dirty="0">
                <a:latin typeface="Times New Roman" panose="02020603050405020304" pitchFamily="18" charset="0"/>
                <a:cs typeface="Times New Roman" panose="02020603050405020304" pitchFamily="18" charset="0"/>
              </a:rPr>
              <a:t>Technology:</a:t>
            </a:r>
            <a:r>
              <a:rPr lang="en-IN" sz="5000" dirty="0">
                <a:latin typeface="Times New Roman" panose="02020603050405020304" pitchFamily="18" charset="0"/>
                <a:cs typeface="Times New Roman" panose="02020603050405020304" pitchFamily="18" charset="0"/>
              </a:rPr>
              <a:t> </a:t>
            </a:r>
            <a:r>
              <a:rPr lang="en-IN" sz="5000" dirty="0" err="1">
                <a:latin typeface="Times New Roman" panose="02020603050405020304" pitchFamily="18" charset="0"/>
                <a:cs typeface="Times New Roman" panose="02020603050405020304" pitchFamily="18" charset="0"/>
              </a:rPr>
              <a:t>Streamlit</a:t>
            </a:r>
            <a:endParaRPr lang="en-IN" sz="5000" dirty="0">
              <a:latin typeface="Times New Roman" panose="02020603050405020304" pitchFamily="18" charset="0"/>
              <a:cs typeface="Times New Roman" panose="02020603050405020304" pitchFamily="18" charset="0"/>
            </a:endParaRPr>
          </a:p>
          <a:p>
            <a:pPr lvl="0"/>
            <a:r>
              <a:rPr lang="en-IN" sz="5000" dirty="0">
                <a:latin typeface="Times New Roman" panose="02020603050405020304" pitchFamily="18" charset="0"/>
                <a:cs typeface="Times New Roman" panose="02020603050405020304" pitchFamily="18" charset="0"/>
              </a:rPr>
              <a:t>Provides a user-friendly interface to enter participant details and view generated teams.</a:t>
            </a:r>
          </a:p>
          <a:p>
            <a:pPr lvl="0"/>
            <a:r>
              <a:rPr lang="en-IN" sz="5000" dirty="0">
                <a:latin typeface="Times New Roman" panose="02020603050405020304" pitchFamily="18" charset="0"/>
                <a:cs typeface="Times New Roman" panose="02020603050405020304" pitchFamily="18" charset="0"/>
              </a:rPr>
              <a:t>Displays team members, assigned roles, and fairness metrics.</a:t>
            </a:r>
          </a:p>
          <a:p>
            <a:r>
              <a:rPr lang="en-IN" sz="5000" b="1" dirty="0">
                <a:latin typeface="Times New Roman" panose="02020603050405020304" pitchFamily="18" charset="0"/>
                <a:cs typeface="Times New Roman" panose="02020603050405020304" pitchFamily="18" charset="0"/>
              </a:rPr>
              <a:t>2. Backend</a:t>
            </a:r>
            <a:endParaRPr lang="en-IN" sz="5000" dirty="0">
              <a:latin typeface="Times New Roman" panose="02020603050405020304" pitchFamily="18" charset="0"/>
              <a:cs typeface="Times New Roman" panose="02020603050405020304" pitchFamily="18" charset="0"/>
            </a:endParaRPr>
          </a:p>
          <a:p>
            <a:pPr lvl="0"/>
            <a:r>
              <a:rPr lang="en-IN" sz="5000" b="1" dirty="0">
                <a:latin typeface="Times New Roman" panose="02020603050405020304" pitchFamily="18" charset="0"/>
                <a:cs typeface="Times New Roman" panose="02020603050405020304" pitchFamily="18" charset="0"/>
              </a:rPr>
              <a:t>Programming Language:</a:t>
            </a:r>
            <a:r>
              <a:rPr lang="en-IN" sz="5000" dirty="0">
                <a:latin typeface="Times New Roman" panose="02020603050405020304" pitchFamily="18" charset="0"/>
                <a:cs typeface="Times New Roman" panose="02020603050405020304" pitchFamily="18" charset="0"/>
              </a:rPr>
              <a:t> Python</a:t>
            </a:r>
          </a:p>
          <a:p>
            <a:pPr lvl="0"/>
            <a:r>
              <a:rPr lang="en-IN" sz="5000" dirty="0">
                <a:latin typeface="Times New Roman" panose="02020603050405020304" pitchFamily="18" charset="0"/>
                <a:cs typeface="Times New Roman" panose="02020603050405020304" pitchFamily="18" charset="0"/>
              </a:rPr>
              <a:t>Processes participant data and manages team formation.</a:t>
            </a:r>
          </a:p>
          <a:p>
            <a:pPr lvl="0"/>
            <a:r>
              <a:rPr lang="en-IN" sz="5000" dirty="0">
                <a:latin typeface="Times New Roman" panose="02020603050405020304" pitchFamily="18" charset="0"/>
                <a:cs typeface="Times New Roman" panose="02020603050405020304" pitchFamily="18" charset="0"/>
              </a:rPr>
              <a:t>Implements rule-based decision-making and team allocation logic.</a:t>
            </a:r>
          </a:p>
          <a:p>
            <a:r>
              <a:rPr lang="en-IN" sz="5000" b="1" dirty="0">
                <a:latin typeface="Times New Roman" panose="02020603050405020304" pitchFamily="18" charset="0"/>
                <a:cs typeface="Times New Roman" panose="02020603050405020304" pitchFamily="18" charset="0"/>
              </a:rPr>
              <a:t>3. Database</a:t>
            </a:r>
            <a:endParaRPr lang="en-IN" sz="5000" dirty="0">
              <a:latin typeface="Times New Roman" panose="02020603050405020304" pitchFamily="18" charset="0"/>
              <a:cs typeface="Times New Roman" panose="02020603050405020304" pitchFamily="18" charset="0"/>
            </a:endParaRPr>
          </a:p>
          <a:p>
            <a:pPr lvl="0"/>
            <a:r>
              <a:rPr lang="en-IN" sz="5000" b="1" dirty="0">
                <a:latin typeface="Times New Roman" panose="02020603050405020304" pitchFamily="18" charset="0"/>
                <a:cs typeface="Times New Roman" panose="02020603050405020304" pitchFamily="18" charset="0"/>
              </a:rPr>
              <a:t>Technology:</a:t>
            </a:r>
            <a:r>
              <a:rPr lang="en-IN" sz="5000" dirty="0">
                <a:latin typeface="Times New Roman" panose="02020603050405020304" pitchFamily="18" charset="0"/>
                <a:cs typeface="Times New Roman" panose="02020603050405020304" pitchFamily="18" charset="0"/>
              </a:rPr>
              <a:t> SQLite</a:t>
            </a:r>
          </a:p>
          <a:p>
            <a:pPr lvl="0"/>
            <a:r>
              <a:rPr lang="en-IN" sz="5000" dirty="0">
                <a:latin typeface="Times New Roman" panose="02020603050405020304" pitchFamily="18" charset="0"/>
                <a:cs typeface="Times New Roman" panose="02020603050405020304" pitchFamily="18" charset="0"/>
              </a:rPr>
              <a:t>Stores participant details, skills, attendance, portfolio status, leadership experience, and generated team information.</a:t>
            </a:r>
          </a:p>
          <a:p>
            <a:pPr lvl="0"/>
            <a:endParaRPr lang="en-IN" sz="5000" dirty="0">
              <a:latin typeface="Times New Roman" panose="02020603050405020304" pitchFamily="18" charset="0"/>
              <a:cs typeface="Times New Roman" panose="02020603050405020304" pitchFamily="18" charset="0"/>
            </a:endParaRPr>
          </a:p>
          <a:p>
            <a:pPr algn="just">
              <a:lnSpc>
                <a:spcPct val="120000"/>
              </a:lnSpc>
            </a:pPr>
            <a:endParaRPr lang="en-IN" dirty="0">
              <a:latin typeface="Times New Roman" panose="02020603050405020304" pitchFamily="18" charset="0"/>
              <a:cs typeface="Times New Roman" panose="02020603050405020304" pitchFamily="18" charset="0"/>
            </a:endParaRPr>
          </a:p>
          <a:p>
            <a:endParaRPr lang="en-US" dirty="0"/>
          </a:p>
          <a:p>
            <a:endParaRPr lang="en-IN" dirty="0"/>
          </a:p>
          <a:p>
            <a:pPr marL="0" indent="0">
              <a:buNone/>
            </a:pPr>
            <a:endParaRPr lang="en-IN" dirty="0"/>
          </a:p>
        </p:txBody>
      </p:sp>
    </p:spTree>
    <p:extLst>
      <p:ext uri="{BB962C8B-B14F-4D97-AF65-F5344CB8AC3E}">
        <p14:creationId xmlns:p14="http://schemas.microsoft.com/office/powerpoint/2010/main" val="1454358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D54E-246F-40A7-A946-C3E53D2FD495}"/>
              </a:ext>
            </a:extLst>
          </p:cNvPr>
          <p:cNvSpPr>
            <a:spLocks noGrp="1"/>
          </p:cNvSpPr>
          <p:nvPr>
            <p:ph type="title"/>
          </p:nvPr>
        </p:nvSpPr>
        <p:spPr>
          <a:xfrm>
            <a:off x="1097280" y="286603"/>
            <a:ext cx="10058400" cy="1084997"/>
          </a:xfrm>
        </p:spPr>
        <p:txBody>
          <a:bodyPr>
            <a:normAutofit/>
          </a:bodyPr>
          <a:lstStyle/>
          <a:p>
            <a:pPr algn="ctr"/>
            <a:r>
              <a:rPr lang="en-US" sz="3200" b="1" dirty="0">
                <a:latin typeface="Times New Roman"/>
                <a:cs typeface="Times New Roman"/>
              </a:rPr>
              <a:t>IMPLEMETATION DETAILS</a:t>
            </a:r>
            <a:endParaRPr lang="en-IN" sz="3200" dirty="0"/>
          </a:p>
        </p:txBody>
      </p:sp>
      <p:sp>
        <p:nvSpPr>
          <p:cNvPr id="3" name="Content Placeholder 2">
            <a:extLst>
              <a:ext uri="{FF2B5EF4-FFF2-40B4-BE49-F238E27FC236}">
                <a16:creationId xmlns:a16="http://schemas.microsoft.com/office/drawing/2014/main" id="{88891AB4-E954-9421-0FD7-6ACE410BB566}"/>
              </a:ext>
            </a:extLst>
          </p:cNvPr>
          <p:cNvSpPr>
            <a:spLocks noGrp="1"/>
          </p:cNvSpPr>
          <p:nvPr>
            <p:ph idx="1"/>
          </p:nvPr>
        </p:nvSpPr>
        <p:spPr>
          <a:xfrm>
            <a:off x="746449" y="1845733"/>
            <a:ext cx="10702212" cy="4573727"/>
          </a:xfrm>
        </p:spPr>
        <p:txBody>
          <a:bodyPr>
            <a:normAutofit fontScale="85000" lnSpcReduction="20000"/>
          </a:bodyPr>
          <a:lstStyle/>
          <a:p>
            <a:r>
              <a:rPr lang="en-IN" sz="2200" b="1" dirty="0"/>
              <a:t>4. AI and Algorithms</a:t>
            </a:r>
            <a:endParaRPr lang="en-IN" sz="2200" dirty="0"/>
          </a:p>
          <a:p>
            <a:pPr lvl="0"/>
            <a:r>
              <a:rPr lang="en-IN" sz="2200" b="1" dirty="0"/>
              <a:t>Forward-Chaining Rule Engine:</a:t>
            </a:r>
            <a:r>
              <a:rPr lang="en-IN" sz="2200" dirty="0"/>
              <a:t> Identifies eligible participants and suitable roles based on predefined rules.</a:t>
            </a:r>
          </a:p>
          <a:p>
            <a:pPr lvl="0"/>
            <a:r>
              <a:rPr lang="en-IN" sz="2200" b="1" dirty="0"/>
              <a:t>Constraint Satisfaction Problem (CSP):</a:t>
            </a:r>
            <a:r>
              <a:rPr lang="en-IN" sz="2200" dirty="0"/>
              <a:t> Ensures teams meet specified requirements.</a:t>
            </a:r>
          </a:p>
          <a:p>
            <a:pPr lvl="0"/>
            <a:r>
              <a:rPr lang="en-IN" sz="2200" b="1" dirty="0"/>
              <a:t>Backtracking Algorithm:</a:t>
            </a:r>
            <a:r>
              <a:rPr lang="en-IN" sz="2200" dirty="0"/>
              <a:t> Searches for valid team combinations when constraints are not satisfied.</a:t>
            </a:r>
          </a:p>
          <a:p>
            <a:endParaRPr lang="en-IN" sz="2200" b="1" dirty="0"/>
          </a:p>
          <a:p>
            <a:r>
              <a:rPr lang="en-IN" sz="2200" b="1" dirty="0"/>
              <a:t>Key Features:</a:t>
            </a:r>
            <a:endParaRPr lang="en-IN" sz="2200" dirty="0"/>
          </a:p>
          <a:p>
            <a:pPr lvl="0">
              <a:buFont typeface="Wingdings" panose="05000000000000000000" pitchFamily="2" charset="2"/>
              <a:buChar char="§"/>
            </a:pPr>
            <a:r>
              <a:rPr lang="en-IN" sz="2200" dirty="0"/>
              <a:t>Automatic team formation.</a:t>
            </a:r>
          </a:p>
          <a:p>
            <a:pPr lvl="0">
              <a:buFont typeface="Wingdings" panose="05000000000000000000" pitchFamily="2" charset="2"/>
              <a:buChar char="§"/>
            </a:pPr>
            <a:r>
              <a:rPr lang="en-IN" sz="2200" dirty="0"/>
              <a:t>Balanced distribution of skills among teams.</a:t>
            </a:r>
          </a:p>
          <a:p>
            <a:pPr lvl="0">
              <a:buFont typeface="Wingdings" panose="05000000000000000000" pitchFamily="2" charset="2"/>
              <a:buChar char="§"/>
            </a:pPr>
            <a:r>
              <a:rPr lang="en-IN" sz="2200" dirty="0"/>
              <a:t>Role assignment based on participants’ abilities.</a:t>
            </a:r>
          </a:p>
          <a:p>
            <a:pPr lvl="0">
              <a:buFont typeface="Wingdings" panose="05000000000000000000" pitchFamily="2" charset="2"/>
              <a:buChar char="§"/>
            </a:pPr>
            <a:r>
              <a:rPr lang="en-IN" sz="2200" dirty="0"/>
              <a:t>Fairness evaluation and constraint checking.</a:t>
            </a:r>
          </a:p>
          <a:p>
            <a:pPr lvl="0">
              <a:buFont typeface="Wingdings" panose="05000000000000000000" pitchFamily="2" charset="2"/>
              <a:buChar char="§"/>
            </a:pPr>
            <a:r>
              <a:rPr lang="en-IN" sz="2200" dirty="0"/>
              <a:t>Identification of unmet constraints.</a:t>
            </a:r>
          </a:p>
          <a:p>
            <a:pPr lvl="0">
              <a:buFont typeface="Wingdings" panose="05000000000000000000" pitchFamily="2" charset="2"/>
              <a:buChar char="§"/>
            </a:pPr>
            <a:r>
              <a:rPr lang="en-IN" sz="2200" dirty="0"/>
              <a:t>Campus meeting-point recommendations.</a:t>
            </a:r>
          </a:p>
          <a:p>
            <a:pPr lvl="0"/>
            <a:endParaRPr lang="en-IN" dirty="0"/>
          </a:p>
          <a:p>
            <a:endParaRPr lang="en-IN" dirty="0"/>
          </a:p>
        </p:txBody>
      </p:sp>
    </p:spTree>
    <p:extLst>
      <p:ext uri="{BB962C8B-B14F-4D97-AF65-F5344CB8AC3E}">
        <p14:creationId xmlns:p14="http://schemas.microsoft.com/office/powerpoint/2010/main" val="579458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p:nvPr>
        </p:nvSpPr>
        <p:spPr>
          <a:xfrm>
            <a:off x="1097280" y="-67961"/>
            <a:ext cx="10058400" cy="1450757"/>
          </a:xfrm>
        </p:spPr>
        <p:txBody>
          <a:bodyPr>
            <a:normAutofit/>
          </a:bodyPr>
          <a:lstStyle/>
          <a:p>
            <a:pPr algn="ctr"/>
            <a:r>
              <a:rPr lang="en-US" sz="3500" b="1" dirty="0">
                <a:latin typeface="Times New Roman"/>
                <a:cs typeface="Times New Roman"/>
              </a:rPr>
              <a:t>RESULTS</a:t>
            </a:r>
          </a:p>
        </p:txBody>
      </p:sp>
      <p:sp>
        <p:nvSpPr>
          <p:cNvPr id="3" name="Content Placeholder 2">
            <a:extLst>
              <a:ext uri="{FF2B5EF4-FFF2-40B4-BE49-F238E27FC236}">
                <a16:creationId xmlns:a16="http://schemas.microsoft.com/office/drawing/2014/main" id="{142D7223-E6EF-8DC0-0428-D7321F91DDA0}"/>
              </a:ext>
            </a:extLst>
          </p:cNvPr>
          <p:cNvSpPr>
            <a:spLocks noGrp="1"/>
          </p:cNvSpPr>
          <p:nvPr>
            <p:ph idx="1"/>
          </p:nvPr>
        </p:nvSpPr>
        <p:spPr>
          <a:xfrm>
            <a:off x="1007706" y="1845734"/>
            <a:ext cx="10300996" cy="4023360"/>
          </a:xfrm>
        </p:spPr>
        <p:txBody>
          <a:bodyPr>
            <a:normAutofit/>
          </a:bodyPr>
          <a:lstStyle/>
          <a:p>
            <a:pPr algn="just"/>
            <a:r>
              <a:rPr lang="en-IN" dirty="0">
                <a:latin typeface="Times New Roman" panose="02020603050405020304" pitchFamily="18" charset="0"/>
                <a:cs typeface="Times New Roman" panose="02020603050405020304" pitchFamily="18" charset="0"/>
              </a:rPr>
              <a:t>The AI-Powered Team Formation Tool aims to automate the process of forming balanced and effective teams based on participants’ skills, attendance, portfolio submission, and leadership experience. The system uses rule-based techniques and constraint satisfaction algorithms to distribute members, assign suitable roles, and evaluate team fairness. It also identifies unmet constraints and recommends suitable campus meeting points. The proposed system helps reduce manual effort, improve skill distribution, and support fair and efficient team formation through a user-friendly interface.</a:t>
            </a:r>
          </a:p>
          <a:p>
            <a:endParaRPr lang="en-IN" b="1" dirty="0"/>
          </a:p>
          <a:p>
            <a:r>
              <a:rPr lang="en-IN" b="1" dirty="0"/>
              <a:t>Outcome</a:t>
            </a:r>
          </a:p>
          <a:p>
            <a:r>
              <a:rPr lang="en-IN" dirty="0">
                <a:latin typeface="Times New Roman" panose="02020603050405020304" pitchFamily="18" charset="0"/>
                <a:cs typeface="Times New Roman" panose="02020603050405020304" pitchFamily="18" charset="0"/>
              </a:rPr>
              <a:t>The proposed system aims to reduce manual effort, improve team balance, and support fair and efficient team formation.</a:t>
            </a:r>
          </a:p>
          <a:p>
            <a:pPr algn="just"/>
            <a:endParaRPr lang="en-IN" dirty="0"/>
          </a:p>
        </p:txBody>
      </p:sp>
    </p:spTree>
    <p:extLst>
      <p:ext uri="{BB962C8B-B14F-4D97-AF65-F5344CB8AC3E}">
        <p14:creationId xmlns:p14="http://schemas.microsoft.com/office/powerpoint/2010/main" val="1473955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DFC0B6-B180-E15D-9800-36390813C5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060" y="709127"/>
            <a:ext cx="10524931" cy="5327779"/>
          </a:xfrm>
          <a:prstGeom prst="rect">
            <a:avLst/>
          </a:prstGeom>
        </p:spPr>
      </p:pic>
    </p:spTree>
    <p:extLst>
      <p:ext uri="{BB962C8B-B14F-4D97-AF65-F5344CB8AC3E}">
        <p14:creationId xmlns:p14="http://schemas.microsoft.com/office/powerpoint/2010/main" val="500664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4EC609-775E-5D33-39C4-61CDA393E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061" y="653143"/>
            <a:ext cx="10422294" cy="5365102"/>
          </a:xfrm>
          <a:prstGeom prst="rect">
            <a:avLst/>
          </a:prstGeom>
        </p:spPr>
      </p:pic>
    </p:spTree>
    <p:extLst>
      <p:ext uri="{BB962C8B-B14F-4D97-AF65-F5344CB8AC3E}">
        <p14:creationId xmlns:p14="http://schemas.microsoft.com/office/powerpoint/2010/main" val="849330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E167804-674A-B868-7EEE-0C4BEE87BA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359" y="483870"/>
            <a:ext cx="10245012" cy="5590359"/>
          </a:xfrm>
          <a:prstGeom prst="rect">
            <a:avLst/>
          </a:prstGeom>
        </p:spPr>
      </p:pic>
    </p:spTree>
    <p:extLst>
      <p:ext uri="{BB962C8B-B14F-4D97-AF65-F5344CB8AC3E}">
        <p14:creationId xmlns:p14="http://schemas.microsoft.com/office/powerpoint/2010/main" val="2645757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p:nvPr>
        </p:nvSpPr>
        <p:spPr>
          <a:xfrm>
            <a:off x="1097280" y="286604"/>
            <a:ext cx="10058400" cy="1131650"/>
          </a:xfrm>
        </p:spPr>
        <p:txBody>
          <a:bodyPr>
            <a:normAutofit/>
          </a:bodyPr>
          <a:lstStyle/>
          <a:p>
            <a:pPr algn="ctr"/>
            <a:r>
              <a:rPr lang="en-US" sz="3500" b="1" dirty="0">
                <a:latin typeface="Times New Roman"/>
                <a:cs typeface="Times New Roman"/>
              </a:rPr>
              <a:t>FUTURE ENHANCEMENT</a:t>
            </a:r>
          </a:p>
        </p:txBody>
      </p:sp>
      <p:sp>
        <p:nvSpPr>
          <p:cNvPr id="4" name="TextBox 3">
            <a:extLst>
              <a:ext uri="{FF2B5EF4-FFF2-40B4-BE49-F238E27FC236}">
                <a16:creationId xmlns:a16="http://schemas.microsoft.com/office/drawing/2014/main" id="{D656250E-BA25-39F2-857C-995E7D4905D6}"/>
              </a:ext>
            </a:extLst>
          </p:cNvPr>
          <p:cNvSpPr txBox="1"/>
          <p:nvPr/>
        </p:nvSpPr>
        <p:spPr>
          <a:xfrm>
            <a:off x="732646" y="368974"/>
            <a:ext cx="111537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latin typeface="Times New Roman"/>
              <a:cs typeface="Calibri" panose="020F0502020204030204"/>
            </a:endParaRPr>
          </a:p>
        </p:txBody>
      </p:sp>
      <p:sp>
        <p:nvSpPr>
          <p:cNvPr id="8" name="Rectangle 1">
            <a:extLst>
              <a:ext uri="{FF2B5EF4-FFF2-40B4-BE49-F238E27FC236}">
                <a16:creationId xmlns:a16="http://schemas.microsoft.com/office/drawing/2014/main" id="{24BF2F95-928C-A664-75AE-99A236FE4B35}"/>
              </a:ext>
            </a:extLst>
          </p:cNvPr>
          <p:cNvSpPr>
            <a:spLocks noGrp="1" noChangeArrowheads="1"/>
          </p:cNvSpPr>
          <p:nvPr>
            <p:ph idx="1"/>
          </p:nvPr>
        </p:nvSpPr>
        <p:spPr bwMode="auto">
          <a:xfrm>
            <a:off x="621459" y="1482272"/>
            <a:ext cx="11153774"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b="1"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Machine Learning Integration:</a:t>
            </a:r>
            <a:r>
              <a:rPr lang="en-IN" dirty="0">
                <a:latin typeface="Times New Roman" panose="02020603050405020304" pitchFamily="18" charset="0"/>
                <a:cs typeface="Times New Roman" panose="02020603050405020304" pitchFamily="18" charset="0"/>
              </a:rPr>
              <a:t> Predict team performance based on members’ skills and previous project experiences.</a:t>
            </a:r>
          </a:p>
          <a:p>
            <a:pPr lvl="0"/>
            <a:r>
              <a:rPr lang="en-IN" b="1" dirty="0">
                <a:latin typeface="Times New Roman" panose="02020603050405020304" pitchFamily="18" charset="0"/>
                <a:cs typeface="Times New Roman" panose="02020603050405020304" pitchFamily="18" charset="0"/>
              </a:rPr>
              <a:t>Advanced Skill Assessment:</a:t>
            </a:r>
            <a:r>
              <a:rPr lang="en-IN" dirty="0">
                <a:latin typeface="Times New Roman" panose="02020603050405020304" pitchFamily="18" charset="0"/>
                <a:cs typeface="Times New Roman" panose="02020603050405020304" pitchFamily="18" charset="0"/>
              </a:rPr>
              <a:t> Evaluate participants’ technical and soft skills for better team formation.</a:t>
            </a:r>
          </a:p>
          <a:p>
            <a:pPr lvl="0"/>
            <a:r>
              <a:rPr lang="en-IN" b="1" dirty="0">
                <a:latin typeface="Times New Roman" panose="02020603050405020304" pitchFamily="18" charset="0"/>
                <a:cs typeface="Times New Roman" panose="02020603050405020304" pitchFamily="18" charset="0"/>
              </a:rPr>
              <a:t>Real-Time Availability:</a:t>
            </a:r>
            <a:r>
              <a:rPr lang="en-IN" dirty="0">
                <a:latin typeface="Times New Roman" panose="02020603050405020304" pitchFamily="18" charset="0"/>
                <a:cs typeface="Times New Roman" panose="02020603050405020304" pitchFamily="18" charset="0"/>
              </a:rPr>
              <a:t> Track members’ availability to form suitable teams.</a:t>
            </a:r>
          </a:p>
          <a:p>
            <a:pPr lvl="0"/>
            <a:r>
              <a:rPr lang="en-IN" b="1" dirty="0">
                <a:latin typeface="Times New Roman" panose="02020603050405020304" pitchFamily="18" charset="0"/>
                <a:cs typeface="Times New Roman" panose="02020603050405020304" pitchFamily="18" charset="0"/>
              </a:rPr>
              <a:t>Automatic Role Assignment:</a:t>
            </a:r>
            <a:r>
              <a:rPr lang="en-IN" dirty="0">
                <a:latin typeface="Times New Roman" panose="02020603050405020304" pitchFamily="18" charset="0"/>
                <a:cs typeface="Times New Roman" panose="02020603050405020304" pitchFamily="18" charset="0"/>
              </a:rPr>
              <a:t> Assign roles based on individual strengths and expertise.</a:t>
            </a:r>
          </a:p>
          <a:p>
            <a:pPr lvl="0"/>
            <a:r>
              <a:rPr lang="en-IN" b="1" dirty="0">
                <a:latin typeface="Times New Roman" panose="02020603050405020304" pitchFamily="18" charset="0"/>
                <a:cs typeface="Times New Roman" panose="02020603050405020304" pitchFamily="18" charset="0"/>
              </a:rPr>
              <a:t>Meeting Schedule Recommendation:</a:t>
            </a:r>
            <a:r>
              <a:rPr lang="en-IN" dirty="0">
                <a:latin typeface="Times New Roman" panose="02020603050405020304" pitchFamily="18" charset="0"/>
                <a:cs typeface="Times New Roman" panose="02020603050405020304" pitchFamily="18" charset="0"/>
              </a:rPr>
              <a:t> Suggest suitable meeting times and campus locations.</a:t>
            </a:r>
          </a:p>
          <a:p>
            <a:pPr lvl="0"/>
            <a:r>
              <a:rPr lang="en-IN" b="1" dirty="0">
                <a:latin typeface="Times New Roman" panose="02020603050405020304" pitchFamily="18" charset="0"/>
                <a:cs typeface="Times New Roman" panose="02020603050405020304" pitchFamily="18" charset="0"/>
              </a:rPr>
              <a:t>Cloud-Based Deployment:</a:t>
            </a:r>
            <a:r>
              <a:rPr lang="en-IN" dirty="0">
                <a:latin typeface="Times New Roman" panose="02020603050405020304" pitchFamily="18" charset="0"/>
                <a:cs typeface="Times New Roman" panose="02020603050405020304" pitchFamily="18" charset="0"/>
              </a:rPr>
              <a:t> Make the system accessible from anywhere.</a:t>
            </a:r>
          </a:p>
          <a:p>
            <a:pPr lvl="0"/>
            <a:r>
              <a:rPr lang="en-IN" b="1" dirty="0">
                <a:latin typeface="Times New Roman" panose="02020603050405020304" pitchFamily="18" charset="0"/>
                <a:cs typeface="Times New Roman" panose="02020603050405020304" pitchFamily="18" charset="0"/>
              </a:rPr>
              <a:t>Mobile Application:</a:t>
            </a:r>
            <a:r>
              <a:rPr lang="en-IN" dirty="0">
                <a:latin typeface="Times New Roman" panose="02020603050405020304" pitchFamily="18" charset="0"/>
                <a:cs typeface="Times New Roman" panose="02020603050405020304" pitchFamily="18" charset="0"/>
              </a:rPr>
              <a:t> Develop a mobile app for easier access.</a:t>
            </a:r>
          </a:p>
          <a:p>
            <a:pPr lvl="0"/>
            <a:r>
              <a:rPr lang="en-IN" b="1" dirty="0">
                <a:latin typeface="Times New Roman" panose="02020603050405020304" pitchFamily="18" charset="0"/>
                <a:cs typeface="Times New Roman" panose="02020603050405020304" pitchFamily="18" charset="0"/>
              </a:rPr>
              <a:t>College Management Integration:</a:t>
            </a:r>
            <a:r>
              <a:rPr lang="en-IN" dirty="0">
                <a:latin typeface="Times New Roman" panose="02020603050405020304" pitchFamily="18" charset="0"/>
                <a:cs typeface="Times New Roman" panose="02020603050405020304" pitchFamily="18" charset="0"/>
              </a:rPr>
              <a:t> Connect with college systems to collect participant information automatically.</a:t>
            </a:r>
          </a:p>
          <a:p>
            <a:pPr lvl="0"/>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0529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5ECB6-5E5E-59F5-B123-F8352D0F1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4A944-007A-A077-F42D-767008A3B28B}"/>
              </a:ext>
            </a:extLst>
          </p:cNvPr>
          <p:cNvSpPr>
            <a:spLocks noGrp="1"/>
          </p:cNvSpPr>
          <p:nvPr>
            <p:ph type="title"/>
          </p:nvPr>
        </p:nvSpPr>
        <p:spPr/>
        <p:txBody>
          <a:bodyPr>
            <a:normAutofit/>
          </a:bodyPr>
          <a:lstStyle/>
          <a:p>
            <a:pPr algn="ctr">
              <a:lnSpc>
                <a:spcPct val="100000"/>
              </a:lnSpc>
            </a:pPr>
            <a:r>
              <a:rPr lang="en-US" sz="3500" b="1" dirty="0">
                <a:latin typeface="Times New Roman"/>
                <a:cs typeface="Times New Roman"/>
              </a:rPr>
              <a:t>REFERENCE</a:t>
            </a:r>
          </a:p>
        </p:txBody>
      </p:sp>
      <p:sp>
        <p:nvSpPr>
          <p:cNvPr id="3" name="Content Placeholder 2">
            <a:extLst>
              <a:ext uri="{FF2B5EF4-FFF2-40B4-BE49-F238E27FC236}">
                <a16:creationId xmlns:a16="http://schemas.microsoft.com/office/drawing/2014/main" id="{1B70E225-5105-0071-4E07-A101387F5607}"/>
              </a:ext>
            </a:extLst>
          </p:cNvPr>
          <p:cNvSpPr>
            <a:spLocks noGrp="1"/>
          </p:cNvSpPr>
          <p:nvPr>
            <p:ph idx="1"/>
          </p:nvPr>
        </p:nvSpPr>
        <p:spPr>
          <a:xfrm>
            <a:off x="840688" y="1948370"/>
            <a:ext cx="10571584" cy="4303139"/>
          </a:xfrm>
        </p:spPr>
        <p:txBody>
          <a:bodyPr>
            <a:normAutofit fontScale="77500" lnSpcReduction="20000"/>
          </a:bodyPr>
          <a:lstStyle/>
          <a:p>
            <a:pPr lvl="0"/>
            <a:r>
              <a:rPr lang="en-IN" sz="2600" dirty="0">
                <a:latin typeface="Times New Roman" panose="02020603050405020304" pitchFamily="18" charset="0"/>
                <a:cs typeface="Times New Roman" panose="02020603050405020304" pitchFamily="18" charset="0"/>
              </a:rPr>
              <a:t>Wang, J. et al. (2016), </a:t>
            </a:r>
            <a:r>
              <a:rPr lang="en-IN" sz="2600" i="1" dirty="0">
                <a:latin typeface="Times New Roman" panose="02020603050405020304" pitchFamily="18" charset="0"/>
                <a:cs typeface="Times New Roman" panose="02020603050405020304" pitchFamily="18" charset="0"/>
              </a:rPr>
              <a:t>USTF: A Unified System of Team Formation</a:t>
            </a:r>
            <a:r>
              <a:rPr lang="en-IN" sz="2600" dirty="0">
                <a:latin typeface="Times New Roman" panose="02020603050405020304" pitchFamily="18" charset="0"/>
                <a:cs typeface="Times New Roman" panose="02020603050405020304" pitchFamily="18" charset="0"/>
              </a:rPr>
              <a:t>, IEEE.</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hlinkClick r:id="rId2"/>
              </a:rPr>
              <a:t>https://ieeexplore.ieee.org/document/7445184</a:t>
            </a:r>
            <a:endParaRPr lang="en-IN" sz="2600" dirty="0">
              <a:latin typeface="Times New Roman" panose="02020603050405020304" pitchFamily="18" charset="0"/>
              <a:cs typeface="Times New Roman" panose="02020603050405020304" pitchFamily="18" charset="0"/>
            </a:endParaRPr>
          </a:p>
          <a:p>
            <a:pPr lvl="0"/>
            <a:r>
              <a:rPr lang="en-IN" sz="2600" dirty="0" err="1">
                <a:latin typeface="Times New Roman" panose="02020603050405020304" pitchFamily="18" charset="0"/>
                <a:cs typeface="Times New Roman" panose="02020603050405020304" pitchFamily="18" charset="0"/>
              </a:rPr>
              <a:t>Bredereck</a:t>
            </a:r>
            <a:r>
              <a:rPr lang="en-IN" sz="2600" dirty="0">
                <a:latin typeface="Times New Roman" panose="02020603050405020304" pitchFamily="18" charset="0"/>
                <a:cs typeface="Times New Roman" panose="02020603050405020304" pitchFamily="18" charset="0"/>
              </a:rPr>
              <a:t>, R. et al. (2018), </a:t>
            </a:r>
            <a:r>
              <a:rPr lang="en-IN" sz="2600" i="1" dirty="0">
                <a:latin typeface="Times New Roman" panose="02020603050405020304" pitchFamily="18" charset="0"/>
                <a:cs typeface="Times New Roman" panose="02020603050405020304" pitchFamily="18" charset="0"/>
              </a:rPr>
              <a:t>Parameterized Complexity of Team Formation in Social Networks</a:t>
            </a:r>
            <a:r>
              <a:rPr lang="en-IN" sz="2600" dirty="0">
                <a:latin typeface="Times New Roman" panose="02020603050405020304" pitchFamily="18" charset="0"/>
                <a:cs typeface="Times New Roman" panose="02020603050405020304" pitchFamily="18" charset="0"/>
              </a:rPr>
              <a:t>, Theoretical Computer Science.</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hlinkClick r:id="rId3"/>
              </a:rPr>
              <a:t>https://doi.org/10.1016/j.tcs.2017.05.024</a:t>
            </a:r>
            <a:endParaRPr lang="en-IN" sz="2600" dirty="0">
              <a:latin typeface="Times New Roman" panose="02020603050405020304" pitchFamily="18" charset="0"/>
              <a:cs typeface="Times New Roman" panose="02020603050405020304" pitchFamily="18" charset="0"/>
            </a:endParaRPr>
          </a:p>
          <a:p>
            <a:pPr lvl="0"/>
            <a:r>
              <a:rPr lang="en-IN" sz="2600" dirty="0">
                <a:latin typeface="Times New Roman" panose="02020603050405020304" pitchFamily="18" charset="0"/>
                <a:cs typeface="Times New Roman" panose="02020603050405020304" pitchFamily="18" charset="0"/>
              </a:rPr>
              <a:t>Selvarajah, K. et al. (2021), </a:t>
            </a:r>
            <a:r>
              <a:rPr lang="en-IN" sz="2600" i="1" dirty="0">
                <a:latin typeface="Times New Roman" panose="02020603050405020304" pitchFamily="18" charset="0"/>
                <a:cs typeface="Times New Roman" panose="02020603050405020304" pitchFamily="18" charset="0"/>
              </a:rPr>
              <a:t>A Unified Framework for Effective Team Formation in Social Networks</a:t>
            </a:r>
            <a:r>
              <a:rPr lang="en-IN" sz="2600" dirty="0">
                <a:latin typeface="Times New Roman" panose="02020603050405020304" pitchFamily="18" charset="0"/>
                <a:cs typeface="Times New Roman" panose="02020603050405020304" pitchFamily="18" charset="0"/>
              </a:rPr>
              <a:t>, Expert Systems with Applications.</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hlinkClick r:id="rId4"/>
              </a:rPr>
              <a:t>https://doi.org/10.1016/j.eswa.2021.114886</a:t>
            </a:r>
            <a:endParaRPr lang="en-IN" sz="2600" dirty="0">
              <a:latin typeface="Times New Roman" panose="02020603050405020304" pitchFamily="18" charset="0"/>
              <a:cs typeface="Times New Roman" panose="02020603050405020304" pitchFamily="18" charset="0"/>
            </a:endParaRPr>
          </a:p>
          <a:p>
            <a:pPr lvl="0"/>
            <a:r>
              <a:rPr lang="en-IN" sz="2600" dirty="0">
                <a:latin typeface="Times New Roman" panose="02020603050405020304" pitchFamily="18" charset="0"/>
                <a:cs typeface="Times New Roman" panose="02020603050405020304" pitchFamily="18" charset="0"/>
              </a:rPr>
              <a:t>Gómez-Zará, D. et al. (2022), </a:t>
            </a:r>
            <a:r>
              <a:rPr lang="en-IN" sz="2600" i="1" dirty="0">
                <a:latin typeface="Times New Roman" panose="02020603050405020304" pitchFamily="18" charset="0"/>
                <a:cs typeface="Times New Roman" panose="02020603050405020304" pitchFamily="18" charset="0"/>
              </a:rPr>
              <a:t>In Search of Diverse and Connected Teams: A Computational Approach to Assemble Diverse Teams Based on Members' Social Networks</a:t>
            </a:r>
            <a:r>
              <a:rPr lang="en-IN" sz="2600" dirty="0">
                <a:latin typeface="Times New Roman" panose="02020603050405020304" pitchFamily="18" charset="0"/>
                <a:cs typeface="Times New Roman" panose="02020603050405020304" pitchFamily="18" charset="0"/>
              </a:rPr>
              <a:t>, PLOS ONE.</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hlinkClick r:id="rId5"/>
              </a:rPr>
              <a:t>https://doi.org/10.1371/journal.pone.0276061</a:t>
            </a:r>
            <a:endParaRPr lang="en-IN" sz="2600" dirty="0">
              <a:latin typeface="Times New Roman" panose="02020603050405020304" pitchFamily="18" charset="0"/>
              <a:cs typeface="Times New Roman" panose="02020603050405020304" pitchFamily="18" charset="0"/>
            </a:endParaRPr>
          </a:p>
          <a:p>
            <a:pPr lvl="0"/>
            <a:r>
              <a:rPr lang="en-IN" sz="2600" dirty="0">
                <a:latin typeface="Times New Roman" panose="02020603050405020304" pitchFamily="18" charset="0"/>
                <a:cs typeface="Times New Roman" panose="02020603050405020304" pitchFamily="18" charset="0"/>
                <a:hlinkClick r:id="rId6"/>
              </a:rPr>
              <a:t>Python Documentation</a:t>
            </a:r>
            <a:endParaRPr lang="en-IN" sz="2600" dirty="0">
              <a:latin typeface="Times New Roman" panose="02020603050405020304" pitchFamily="18" charset="0"/>
              <a:cs typeface="Times New Roman" panose="02020603050405020304" pitchFamily="18" charset="0"/>
            </a:endParaRPr>
          </a:p>
          <a:p>
            <a:pPr lvl="0"/>
            <a:r>
              <a:rPr lang="en-IN" sz="2600" dirty="0" err="1">
                <a:latin typeface="Times New Roman" panose="02020603050405020304" pitchFamily="18" charset="0"/>
                <a:cs typeface="Times New Roman" panose="02020603050405020304" pitchFamily="18" charset="0"/>
                <a:hlinkClick r:id="rId7"/>
              </a:rPr>
              <a:t>Streamlit</a:t>
            </a:r>
            <a:r>
              <a:rPr lang="en-IN" sz="2600" dirty="0">
                <a:latin typeface="Times New Roman" panose="02020603050405020304" pitchFamily="18" charset="0"/>
                <a:cs typeface="Times New Roman" panose="02020603050405020304" pitchFamily="18" charset="0"/>
                <a:hlinkClick r:id="rId7"/>
              </a:rPr>
              <a:t> Documentation</a:t>
            </a:r>
            <a:endParaRPr lang="en-IN" sz="2600" dirty="0">
              <a:latin typeface="Times New Roman" panose="02020603050405020304" pitchFamily="18" charset="0"/>
              <a:cs typeface="Times New Roman" panose="02020603050405020304" pitchFamily="18" charset="0"/>
            </a:endParaRPr>
          </a:p>
          <a:p>
            <a:pPr lvl="0"/>
            <a:r>
              <a:rPr lang="en-IN" sz="2600" dirty="0">
                <a:latin typeface="Times New Roman" panose="02020603050405020304" pitchFamily="18" charset="0"/>
                <a:cs typeface="Times New Roman" panose="02020603050405020304" pitchFamily="18" charset="0"/>
                <a:hlinkClick r:id="rId8"/>
              </a:rPr>
              <a:t>SQLite Documentation</a:t>
            </a:r>
            <a:endParaRPr lang="en-IN" sz="2600" dirty="0">
              <a:latin typeface="Times New Roman" panose="02020603050405020304" pitchFamily="18"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9FDEED19-56C7-C914-88BA-4858275D61C2}"/>
              </a:ext>
            </a:extLst>
          </p:cNvPr>
          <p:cNvSpPr txBox="1"/>
          <p:nvPr/>
        </p:nvSpPr>
        <p:spPr>
          <a:xfrm>
            <a:off x="620678" y="939455"/>
            <a:ext cx="111537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latin typeface="Times New Roman"/>
              <a:cs typeface="Calibri" panose="020F0502020204030204"/>
            </a:endParaRPr>
          </a:p>
        </p:txBody>
      </p:sp>
    </p:spTree>
    <p:extLst>
      <p:ext uri="{BB962C8B-B14F-4D97-AF65-F5344CB8AC3E}">
        <p14:creationId xmlns:p14="http://schemas.microsoft.com/office/powerpoint/2010/main" val="753698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idx="4294967295"/>
          </p:nvPr>
        </p:nvSpPr>
        <p:spPr>
          <a:xfrm>
            <a:off x="1066800" y="2390614"/>
            <a:ext cx="10058400" cy="563562"/>
          </a:xfrm>
        </p:spPr>
        <p:txBody>
          <a:bodyPr>
            <a:noAutofit/>
          </a:bodyPr>
          <a:lstStyle/>
          <a:p>
            <a:pPr algn="ctr"/>
            <a:r>
              <a:rPr lang="en-US" sz="4000" b="1" dirty="0">
                <a:latin typeface="Times New Roman"/>
                <a:cs typeface="Times New Roman"/>
              </a:rPr>
              <a:t>THANK YOU</a:t>
            </a:r>
          </a:p>
        </p:txBody>
      </p:sp>
      <p:sp>
        <p:nvSpPr>
          <p:cNvPr id="4" name="TextBox 3">
            <a:extLst>
              <a:ext uri="{FF2B5EF4-FFF2-40B4-BE49-F238E27FC236}">
                <a16:creationId xmlns:a16="http://schemas.microsoft.com/office/drawing/2014/main" id="{D656250E-BA25-39F2-857C-995E7D4905D6}"/>
              </a:ext>
            </a:extLst>
          </p:cNvPr>
          <p:cNvSpPr txBox="1"/>
          <p:nvPr/>
        </p:nvSpPr>
        <p:spPr>
          <a:xfrm>
            <a:off x="695324" y="1323975"/>
            <a:ext cx="111537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latin typeface="Times New Roman"/>
              <a:cs typeface="Calibri" panose="020F0502020204030204"/>
            </a:endParaRPr>
          </a:p>
        </p:txBody>
      </p:sp>
    </p:spTree>
    <p:extLst>
      <p:ext uri="{BB962C8B-B14F-4D97-AF65-F5344CB8AC3E}">
        <p14:creationId xmlns:p14="http://schemas.microsoft.com/office/powerpoint/2010/main" val="262675033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docProps/app.xml><?xml version="1.0" encoding="utf-8"?>
<Properties xmlns="http://schemas.openxmlformats.org/officeDocument/2006/extended-properties" xmlns:vt="http://schemas.openxmlformats.org/officeDocument/2006/docPropsVTypes">
  <Template>Retrospect</Template>
  <TotalTime>596</TotalTime>
  <Words>1172</Words>
  <Application>Microsoft Office PowerPoint</Application>
  <PresentationFormat>Widescreen</PresentationFormat>
  <Paragraphs>116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Retrospect</vt:lpstr>
      <vt:lpstr> DEPARTMENT OF CSE</vt:lpstr>
      <vt:lpstr>ABSTRACT</vt:lpstr>
      <vt:lpstr>                                          PROBLEM STATEMENT </vt:lpstr>
      <vt:lpstr>LITERATURE SURVEY</vt:lpstr>
      <vt:lpstr>LITERATURE SURVEY</vt:lpstr>
      <vt:lpstr>ARCHITECTURE FLOW DIAGRAM</vt:lpstr>
      <vt:lpstr>PROPOSED SYSTEM</vt:lpstr>
      <vt:lpstr>IMPLEMETATION DETAILS</vt:lpstr>
      <vt:lpstr>IMPLEMETATION DETAILS</vt:lpstr>
      <vt:lpstr>RESULTS</vt:lpstr>
      <vt:lpstr>PowerPoint Presentation</vt:lpstr>
      <vt:lpstr>PowerPoint Presentation</vt:lpstr>
      <vt:lpstr>PowerPoint Presentation</vt:lpstr>
      <vt:lpstr>FUTURE ENHANCEMENT</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dc:creator>
  <cp:lastModifiedBy>deepa shri</cp:lastModifiedBy>
  <cp:revision>108</cp:revision>
  <dcterms:created xsi:type="dcterms:W3CDTF">2019-10-16T03:03:10Z</dcterms:created>
  <dcterms:modified xsi:type="dcterms:W3CDTF">2026-10-19T15:21:38Z</dcterms:modified>
</cp:coreProperties>
</file>